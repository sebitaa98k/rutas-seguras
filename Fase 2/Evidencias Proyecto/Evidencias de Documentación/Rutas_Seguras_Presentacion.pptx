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78C10ED5-5711-7DB8-CEB5-7CB1E929261F}">
          <p14:sldIdLst>
            <p14:sldId id="256"/>
            <p14:sldId id="257"/>
            <p14:sldId id="258"/>
            <p14:sldId id="259"/>
          </p14:sldIdLst>
        </p14:section>
        <p14:section name="Funcionamiento" id="{2FA14557-D40A-BD64-CC2D-3A48DDD68C4F}">
          <p14:sldIdLst>
            <p14:sldId id="260"/>
            <p14:sldId id="261"/>
            <p14:sldId id="262"/>
            <p14:sldId id="263"/>
          </p14:sldIdLst>
        </p14:section>
        <p14:section name="Solución técnica" id="{DAC9C112-37AB-E9EC-5794-F38DAD7523D9}">
          <p14:sldIdLst>
            <p14:sldId id="264"/>
            <p14:sldId id="265"/>
            <p14:sldId id="266"/>
          </p14:sldIdLst>
        </p14:section>
        <p14:section name="Gestión del proyecto" id="{3E72FFEE-908B-11D5-0B5C-8D1B6117C6E5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2826"/>
                </a:solidFill>
                <a:latin typeface="+mn-lt"/>
              </a:defRPr>
            </a:pPr>
            <a:r>
              <a:rPr lang="es-419" sz="1400" b="0" i="0" u="none" strike="noStrike">
                <a:solidFill>
                  <a:srgbClr val="2B2826"/>
                </a:solidFill>
                <a:latin typeface="+mn-lt"/>
              </a:rPr>
              <a:t>Puntos de historia por sprint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Implementado</c:v>
                </c:pt>
              </c:strCache>
            </c:strRef>
          </c:tx>
          <c:spPr>
            <a:solidFill>
              <a:srgbClr val="2F6B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s-419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Sprint 1</c:v>
                </c:pt>
                <c:pt idx="1">
                  <c:v>Sprint 2</c:v>
                </c:pt>
                <c:pt idx="2">
                  <c:v>Sprint 3</c:v>
                </c:pt>
                <c:pt idx="3">
                  <c:v>Sprint 4</c:v>
                </c:pt>
                <c:pt idx="4">
                  <c:v>Sprint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</c:v>
                </c:pt>
                <c:pt idx="1">
                  <c:v>39</c:v>
                </c:pt>
                <c:pt idx="2">
                  <c:v>29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A8-49A1-BEFD-0EF9FCC99F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 avance</c:v>
                </c:pt>
              </c:strCache>
            </c:strRef>
          </c:tx>
          <c:spPr>
            <a:solidFill>
              <a:srgbClr val="A98D6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s-419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Sprint 1</c:v>
                </c:pt>
                <c:pt idx="1">
                  <c:v>Sprint 2</c:v>
                </c:pt>
                <c:pt idx="2">
                  <c:v>Sprint 3</c:v>
                </c:pt>
                <c:pt idx="3">
                  <c:v>Sprint 4</c:v>
                </c:pt>
                <c:pt idx="4">
                  <c:v>Sprint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2">
                  <c:v>29</c:v>
                </c:pt>
                <c:pt idx="3">
                  <c:v>24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A8-49A1-BEFD-0EF9FCC99F6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Pendiente</c:v>
                </c:pt>
              </c:strCache>
            </c:strRef>
          </c:tx>
          <c:spPr>
            <a:solidFill>
              <a:srgbClr val="CFC5B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s-419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Sprint 1</c:v>
                </c:pt>
                <c:pt idx="1">
                  <c:v>Sprint 2</c:v>
                </c:pt>
                <c:pt idx="2">
                  <c:v>Sprint 3</c:v>
                </c:pt>
                <c:pt idx="3">
                  <c:v>Sprint 4</c:v>
                </c:pt>
                <c:pt idx="4">
                  <c:v>Sprint 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2">
                  <c:v>13</c:v>
                </c:pt>
                <c:pt idx="3">
                  <c:v>18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A8-49A1-BEFD-0EF9FCC99F6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460"/>
                </a:solidFill>
                <a:latin typeface="+mn-lt"/>
              </a:defRPr>
            </a:pPr>
            <a:endParaRPr lang="es-419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9E4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460"/>
                </a:solidFill>
                <a:latin typeface="+mn-lt"/>
              </a:defRPr>
            </a:pPr>
            <a:endParaRPr lang="es-419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2826"/>
              </a:solidFill>
              <a:latin typeface="+mn-lt"/>
              <a:cs typeface="+mn-lt"/>
            </a:defRPr>
          </a:pPr>
          <a:endParaRPr lang="es-419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832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3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dirty="0">
                <a:solidFill>
                  <a:srgbClr val="A98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4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3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4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pp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41148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0248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Seguras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527048" y="18288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kern="0" spc="200" dirty="0">
                <a:solidFill>
                  <a:srgbClr val="A98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INTEGRAL PARA EL TRANSPORTE ESCOLAR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224028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rgbClr val="2B2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Rutas Seguras</a:t>
            </a:r>
            <a:endParaRPr lang="en-US" sz="9600" dirty="0"/>
          </a:p>
        </p:txBody>
      </p:sp>
      <p:sp>
        <p:nvSpPr>
          <p:cNvPr id="6" name="Text 3"/>
          <p:cNvSpPr txBox="1"/>
          <p:nvPr/>
        </p:nvSpPr>
        <p:spPr>
          <a:xfrm>
            <a:off x="3355848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Capstone · Octubre 2026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9377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Constanza Reyes · Product Owner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Bugman · Scrum Master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Sebastián Delso · Developer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4937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</a:t>
            </a:r>
            <a:endParaRPr lang="en-US" sz="1500" dirty="0"/>
          </a:p>
          <a:p>
            <a:pPr marL="0" indent="0" algn="r">
              <a:buNone/>
            </a:pPr>
            <a:r>
              <a:rPr lang="en-US" sz="15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Gana Reyes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A98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Actual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transporte escolar presenta una falta de visibilidad y control durante el traslado de los estudiantes.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40280"/>
            <a:ext cx="5852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apoderado no sabe dónde está el furgón.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confirmación inmediata del abordaje ni de la entrega.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conductor no tiene herramientas para gestionar su recorrido.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colegio carece de una visión centralizada del proceso.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está dispersa entre colegios y sedes, con riesgo de mezclar estudiantes, rutas o furgones.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0"/>
            <a:ext cx="6035040" cy="960120"/>
          </a:xfrm>
          <a:prstGeom prst="roundRect">
            <a:avLst>
              <a:gd name="adj" fmla="val 11429"/>
            </a:avLst>
          </a:prstGeom>
          <a:solidFill>
            <a:srgbClr val="E6DACB"/>
          </a:solidFill>
          <a:ln w="12700">
            <a:solidFill>
              <a:srgbClr val="E6DAC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512064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central es la falta de información en tiempo real y de trazabilidad del traslado escolar.</a:t>
            </a:r>
            <a:endParaRPr lang="en-US" sz="1600" dirty="0"/>
          </a:p>
        </p:txBody>
      </p:sp>
      <p:pic>
        <p:nvPicPr>
          <p:cNvPr id="7" name="Image 0" descr="/tmp/claude-0/pp/img/im-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417320"/>
            <a:ext cx="4343400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4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tmp/claude-0/pp/img/im-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65760"/>
            <a:ext cx="5120640" cy="569762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4114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A98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Nuestra Solución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que conecta a todos los actores del transporte escolar de varios colegios en un solo sistema.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3EEEB"/>
          </a:solidFill>
          <a:ln w="12700">
            <a:solidFill>
              <a:srgbClr val="F3EE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23774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Apoderados, conductores y delegados.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37560" y="224028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3EEEB"/>
          </a:solidFill>
          <a:ln w="12700">
            <a:solidFill>
              <a:srgbClr val="F3EE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502152" y="23774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web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la plataforma y de cada colegio.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365760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3EEEB"/>
          </a:solidFill>
          <a:ln w="12700">
            <a:solidFill>
              <a:srgbClr val="F3EE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04672" y="37947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centralizada que conecta toda la información.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337560" y="365760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3EEEB"/>
          </a:solidFill>
          <a:ln w="12700">
            <a:solidFill>
              <a:srgbClr val="F3EE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502152" y="37947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Multi-colegio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colegios y sedes, cada uno con su información separada.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2578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valor: </a:t>
            </a:r>
            <a:r>
              <a:rPr lang="en-US" sz="16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seguridad, comunicación y control durante todo el recorrido.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A98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90879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536192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98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plataforma web y móvil que gestione de forma centralizada, segura y eficiente el transporte escolar de múltiples establecimientos educacionales.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493008"/>
            <a:ext cx="411480" cy="411480"/>
          </a:xfrm>
          <a:prstGeom prst="ellipse">
            <a:avLst/>
          </a:prstGeom>
          <a:solidFill>
            <a:srgbClr val="A98D6D"/>
          </a:solidFill>
          <a:ln w="12700">
            <a:solidFill>
              <a:srgbClr val="A98D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493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4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4747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y roles</a:t>
            </a:r>
            <a:endParaRPr lang="en-US" sz="1550" dirty="0"/>
          </a:p>
          <a:p>
            <a:pPr marL="0" indent="0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permisos según el rol de cada usuario.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334256" y="329184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17136" y="3493008"/>
            <a:ext cx="411480" cy="411480"/>
          </a:xfrm>
          <a:prstGeom prst="ellipse">
            <a:avLst/>
          </a:prstGeom>
          <a:solidFill>
            <a:srgbClr val="A98D6D"/>
          </a:solidFill>
          <a:ln w="12700">
            <a:solidFill>
              <a:srgbClr val="A98D6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17136" y="3493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40" dirty="0"/>
          </a:p>
        </p:txBody>
      </p:sp>
      <p:sp>
        <p:nvSpPr>
          <p:cNvPr id="13" name="Text 11"/>
          <p:cNvSpPr txBox="1"/>
          <p:nvPr/>
        </p:nvSpPr>
        <p:spPr>
          <a:xfrm>
            <a:off x="5065776" y="34747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Multi-colegio</a:t>
            </a:r>
            <a:endParaRPr lang="en-US" sz="1550" dirty="0"/>
          </a:p>
          <a:p>
            <a:pPr marL="0" indent="0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Administrar varios establecimientos y sus sedes.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28432" y="329184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11312" y="3493008"/>
            <a:ext cx="411480" cy="411480"/>
          </a:xfrm>
          <a:prstGeom prst="ellipse">
            <a:avLst/>
          </a:prstGeom>
          <a:solidFill>
            <a:srgbClr val="A98D6D"/>
          </a:solidFill>
          <a:ln w="12700">
            <a:solidFill>
              <a:srgbClr val="A98D6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11312" y="3493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8759952" y="34747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</a:t>
            </a:r>
            <a:endParaRPr lang="en-US" sz="1550" dirty="0"/>
          </a:p>
          <a:p>
            <a:pPr marL="0" indent="0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asociado a su colegio, sede y apoderado.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40080" y="475488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956048"/>
            <a:ext cx="411480" cy="411480"/>
          </a:xfrm>
          <a:prstGeom prst="ellipse">
            <a:avLst/>
          </a:prstGeom>
          <a:solidFill>
            <a:srgbClr val="A98D6D"/>
          </a:solidFill>
          <a:ln w="12700">
            <a:solidFill>
              <a:srgbClr val="A98D6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956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9377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autorizadas</a:t>
            </a:r>
            <a:endParaRPr lang="en-US" sz="1550" dirty="0"/>
          </a:p>
          <a:p>
            <a:pPr marL="0" indent="0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quién puede recibir o entregar al estudiante.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4334256" y="475488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17136" y="4956048"/>
            <a:ext cx="411480" cy="411480"/>
          </a:xfrm>
          <a:prstGeom prst="ellipse">
            <a:avLst/>
          </a:prstGeom>
          <a:solidFill>
            <a:srgbClr val="A98D6D"/>
          </a:solidFill>
          <a:ln w="12700">
            <a:solidFill>
              <a:srgbClr val="A98D6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17136" y="4956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5065776" y="49377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del servicio</a:t>
            </a:r>
            <a:endParaRPr lang="en-US" sz="1550" dirty="0"/>
          </a:p>
          <a:p>
            <a:pPr marL="0" indent="0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Conductores, furgones y rutas separados por colegio.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8028432" y="475488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11312" y="4956048"/>
            <a:ext cx="411480" cy="411480"/>
          </a:xfrm>
          <a:prstGeom prst="ellipse">
            <a:avLst/>
          </a:prstGeom>
          <a:solidFill>
            <a:srgbClr val="A98D6D"/>
          </a:solidFill>
          <a:ln w="12700">
            <a:solidFill>
              <a:srgbClr val="A98D6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11312" y="4956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8759952" y="49377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ruta</a:t>
            </a:r>
            <a:endParaRPr lang="en-US" sz="1550" dirty="0"/>
          </a:p>
          <a:p>
            <a:pPr marL="0" indent="0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Identificación, seguimiento, notificaciones y emergencias.</a:t>
            </a:r>
            <a:endParaRPr lang="en-US" sz="15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4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A98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Usuarios del Sistema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¿Quiénes utilizan Rutas Seguras?</a:t>
            </a:r>
            <a:endParaRPr lang="en-US" sz="1800" dirty="0"/>
          </a:p>
        </p:txBody>
      </p:sp>
      <p:pic>
        <p:nvPicPr>
          <p:cNvPr id="4" name="Image 0" descr="/tmp/claude-0/pp/img/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1143000" cy="1143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89280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de plataforma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colegios y sedes, y crea a sus administradores.</a:t>
            </a:r>
            <a:endParaRPr lang="en-US" sz="1500" dirty="0"/>
          </a:p>
        </p:txBody>
      </p:sp>
      <p:pic>
        <p:nvPicPr>
          <p:cNvPr id="6" name="Image 1" descr="/tmp/claude-0/pp/img/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83080"/>
            <a:ext cx="1143000" cy="1143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80960" y="189280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de colegio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estudiantes, conductores, furgones y rutas de su colegio.</a:t>
            </a:r>
            <a:endParaRPr lang="en-US" sz="1500" dirty="0"/>
          </a:p>
        </p:txBody>
      </p:sp>
      <p:pic>
        <p:nvPicPr>
          <p:cNvPr id="8" name="Image 2" descr="/tmp/claude-0/pp/img/ap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19272"/>
            <a:ext cx="1143000" cy="11430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194560" y="34290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Apoderado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a sus hijos, sigue el recorrido y autoriza delegados.</a:t>
            </a:r>
            <a:endParaRPr lang="en-US" sz="1500" dirty="0"/>
          </a:p>
        </p:txBody>
      </p:sp>
      <p:pic>
        <p:nvPicPr>
          <p:cNvPr id="10" name="Image 3" descr="/tmp/claude-0/pp/img/co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319272"/>
            <a:ext cx="1143000" cy="11430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680960" y="34290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 su ruta, identifica estudiantes y reporta emergencias.</a:t>
            </a:r>
            <a:endParaRPr lang="en-US" sz="1500" dirty="0"/>
          </a:p>
        </p:txBody>
      </p:sp>
      <p:pic>
        <p:nvPicPr>
          <p:cNvPr id="12" name="Image 4" descr="/tmp/claude-0/pp/img/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855464"/>
            <a:ext cx="1143000" cy="11430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2194560" y="496519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Beneficiario principal; se identifica con reconocimiento facial o QR.</a:t>
            </a:r>
            <a:endParaRPr lang="en-US" sz="1500" dirty="0"/>
          </a:p>
        </p:txBody>
      </p:sp>
      <p:pic>
        <p:nvPicPr>
          <p:cNvPr id="14" name="Image 5" descr="/tmp/claude-0/pp/img/dele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4855464"/>
            <a:ext cx="1143000" cy="114300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7680960" y="496519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Delegado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autorizada por RUT para recibir al estudiante.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4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A98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Funciona Rutas Seguras?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80160" y="2514600"/>
            <a:ext cx="9601200" cy="0"/>
          </a:xfrm>
          <a:prstGeom prst="line">
            <a:avLst/>
          </a:prstGeom>
          <a:noFill/>
          <a:ln w="25400">
            <a:solidFill>
              <a:srgbClr val="A98D6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2194560"/>
            <a:ext cx="640080" cy="640080"/>
          </a:xfrm>
          <a:prstGeom prst="ellipse">
            <a:avLst/>
          </a:prstGeom>
          <a:solidFill>
            <a:srgbClr val="A98D6D"/>
          </a:solidFill>
          <a:ln w="12700">
            <a:solidFill>
              <a:srgbClr val="A98D6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4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1691640" cy="274320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310128"/>
            <a:ext cx="1417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administrador del colegio crea rutas y asigna furgón, conductor y estudiantes.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2194560"/>
            <a:ext cx="640080" cy="640080"/>
          </a:xfrm>
          <a:prstGeom prst="ellipse">
            <a:avLst/>
          </a:prstGeom>
          <a:solidFill>
            <a:srgbClr val="A98D6D"/>
          </a:solidFill>
          <a:ln w="12700">
            <a:solidFill>
              <a:srgbClr val="A98D6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40" dirty="0"/>
          </a:p>
        </p:txBody>
      </p:sp>
      <p:sp>
        <p:nvSpPr>
          <p:cNvPr id="10" name="Shape 8"/>
          <p:cNvSpPr/>
          <p:nvPr/>
        </p:nvSpPr>
        <p:spPr>
          <a:xfrm>
            <a:off x="2514600" y="3154680"/>
            <a:ext cx="1691640" cy="274320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651760" y="3310128"/>
            <a:ext cx="1417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ruta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conductor inicia el recorrido desde la app.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00600" y="2194560"/>
            <a:ext cx="640080" cy="640080"/>
          </a:xfrm>
          <a:prstGeom prst="ellipse">
            <a:avLst/>
          </a:prstGeom>
          <a:solidFill>
            <a:srgbClr val="A98D6D"/>
          </a:solidFill>
          <a:ln w="12700">
            <a:solidFill>
              <a:srgbClr val="A98D6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40" dirty="0"/>
          </a:p>
        </p:txBody>
      </p:sp>
      <p:sp>
        <p:nvSpPr>
          <p:cNvPr id="14" name="Shape 12"/>
          <p:cNvSpPr/>
          <p:nvPr/>
        </p:nvSpPr>
        <p:spPr>
          <a:xfrm>
            <a:off x="4389120" y="3154680"/>
            <a:ext cx="1691640" cy="274320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526280" y="3310128"/>
            <a:ext cx="1417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Abordaje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se identifica con reconocimiento facial, o con QR como respaldo.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75120" y="2194560"/>
            <a:ext cx="640080" cy="640080"/>
          </a:xfrm>
          <a:prstGeom prst="ellipse">
            <a:avLst/>
          </a:prstGeom>
          <a:solidFill>
            <a:srgbClr val="A98D6D"/>
          </a:solidFill>
          <a:ln w="12700">
            <a:solidFill>
              <a:srgbClr val="A98D6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40" dirty="0"/>
          </a:p>
        </p:txBody>
      </p:sp>
      <p:sp>
        <p:nvSpPr>
          <p:cNvPr id="18" name="Shape 16"/>
          <p:cNvSpPr/>
          <p:nvPr/>
        </p:nvSpPr>
        <p:spPr>
          <a:xfrm>
            <a:off x="6263640" y="3154680"/>
            <a:ext cx="1691640" cy="274320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00800" y="3310128"/>
            <a:ext cx="1417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apoderado ve la ubicación del furgón en tiempo real.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549640" y="2194560"/>
            <a:ext cx="640080" cy="640080"/>
          </a:xfrm>
          <a:prstGeom prst="ellipse">
            <a:avLst/>
          </a:prstGeom>
          <a:solidFill>
            <a:srgbClr val="A98D6D"/>
          </a:solidFill>
          <a:ln w="12700">
            <a:solidFill>
              <a:srgbClr val="A98D6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4964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40" dirty="0"/>
          </a:p>
        </p:txBody>
      </p:sp>
      <p:sp>
        <p:nvSpPr>
          <p:cNvPr id="22" name="Shape 20"/>
          <p:cNvSpPr/>
          <p:nvPr/>
        </p:nvSpPr>
        <p:spPr>
          <a:xfrm>
            <a:off x="8138160" y="3154680"/>
            <a:ext cx="1691640" cy="274320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75320" y="3310128"/>
            <a:ext cx="1417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se entrega al apoderado o a un delegado autorizado.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424160" y="2194560"/>
            <a:ext cx="640080" cy="640080"/>
          </a:xfrm>
          <a:prstGeom prst="ellipse">
            <a:avLst/>
          </a:prstGeom>
          <a:solidFill>
            <a:srgbClr val="A98D6D"/>
          </a:solidFill>
          <a:ln w="12700">
            <a:solidFill>
              <a:srgbClr val="A98D6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42416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40" dirty="0"/>
          </a:p>
        </p:txBody>
      </p:sp>
      <p:sp>
        <p:nvSpPr>
          <p:cNvPr id="26" name="Shape 24"/>
          <p:cNvSpPr/>
          <p:nvPr/>
        </p:nvSpPr>
        <p:spPr>
          <a:xfrm>
            <a:off x="10012680" y="3154680"/>
            <a:ext cx="1691640" cy="274320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10149840" y="3310128"/>
            <a:ext cx="1417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5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el fin de la ruta y todos sus eventos.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4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A98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del Apoderado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B2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Desde la aplicación móvil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956816"/>
            <a:ext cx="411480" cy="411480"/>
          </a:xfrm>
          <a:prstGeom prst="ellipse">
            <a:avLst/>
          </a:prstGeom>
          <a:solidFill>
            <a:srgbClr val="A98D6D"/>
          </a:solidFill>
          <a:ln w="12700">
            <a:solidFill>
              <a:srgbClr val="A98D6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56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4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2024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a sus hijos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su colegio y la dirección de su casa.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34056"/>
            <a:ext cx="411480" cy="411480"/>
          </a:xfrm>
          <a:prstGeom prst="ellipse">
            <a:avLst/>
          </a:prstGeom>
          <a:solidFill>
            <a:srgbClr val="A98D6D"/>
          </a:solidFill>
          <a:ln w="12700">
            <a:solidFill>
              <a:srgbClr val="A98D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734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4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6974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 un delegado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el RUT de la persona autorizada.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511296"/>
            <a:ext cx="411480" cy="411480"/>
          </a:xfrm>
          <a:prstGeom prst="ellipse">
            <a:avLst/>
          </a:prstGeom>
          <a:solidFill>
            <a:srgbClr val="A98D6D"/>
          </a:solidFill>
          <a:ln w="12700">
            <a:solidFill>
              <a:srgbClr val="A98D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511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4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47472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la ruta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el estado del traslado y el furgón en el mapa.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288536"/>
            <a:ext cx="411480" cy="411480"/>
          </a:xfrm>
          <a:prstGeom prst="ellipse">
            <a:avLst/>
          </a:prstGeom>
          <a:solidFill>
            <a:srgbClr val="A98D6D"/>
          </a:solidFill>
          <a:ln w="12700">
            <a:solidFill>
              <a:srgbClr val="A98D6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288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25196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notificaciones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de inicio, abordaje, incidentes y entrega.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065776"/>
            <a:ext cx="411480" cy="411480"/>
          </a:xfrm>
          <a:prstGeom prst="ellipse">
            <a:avLst/>
          </a:prstGeom>
          <a:solidFill>
            <a:srgbClr val="A98D6D"/>
          </a:solidFill>
          <a:ln w="12700">
            <a:solidFill>
              <a:srgbClr val="A98D6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065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4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02920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su contrato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en PDF de las condiciones del servicio.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852160"/>
            <a:ext cx="10908792" cy="594360"/>
          </a:xfrm>
          <a:prstGeom prst="roundRect">
            <a:avLst>
              <a:gd name="adj" fmla="val 18462"/>
            </a:avLst>
          </a:prstGeom>
          <a:solidFill>
            <a:srgbClr val="E6DACB"/>
          </a:solidFill>
          <a:ln w="12700">
            <a:solidFill>
              <a:srgbClr val="E6DAC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" y="58521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más información y control sobre el traslado de su hijo.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05256" y="1728216"/>
            <a:ext cx="2277855" cy="2944368"/>
          </a:xfrm>
          <a:prstGeom prst="roundRect">
            <a:avLst>
              <a:gd name="adj" fmla="val 48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2" name="Image 0" descr="/tmp/claude-0/pp/img/im-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120" y="1783080"/>
            <a:ext cx="2168127" cy="283464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7128858" y="1728216"/>
            <a:ext cx="2256349" cy="2944368"/>
          </a:xfrm>
          <a:prstGeom prst="roundRect">
            <a:avLst>
              <a:gd name="adj" fmla="val 48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4" name="Image 1" descr="/tmp/claude-0/pp/img/im-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722" y="1783080"/>
            <a:ext cx="2146621" cy="283464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9350035" y="1728216"/>
            <a:ext cx="2239689" cy="2944368"/>
          </a:xfrm>
          <a:prstGeom prst="roundRect">
            <a:avLst>
              <a:gd name="adj" fmla="val 489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6" name="Image 2" descr="/tmp/claude-0/pp/img/im-0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4899" y="1783080"/>
            <a:ext cx="2129961" cy="2834640"/>
          </a:xfrm>
          <a:prstGeom prst="rect">
            <a:avLst/>
          </a:prstGeom>
        </p:spPr>
      </p:pic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4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A98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del Delegado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B2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entrega más segura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956816"/>
            <a:ext cx="411480" cy="411480"/>
          </a:xfrm>
          <a:prstGeom prst="ellipse">
            <a:avLst/>
          </a:prstGeom>
          <a:solidFill>
            <a:srgbClr val="A98D6D"/>
          </a:solidFill>
          <a:ln w="12700">
            <a:solidFill>
              <a:srgbClr val="A98D6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56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4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2024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Apoderado autoriza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a la persona mediante su RUT.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34056"/>
            <a:ext cx="411480" cy="411480"/>
          </a:xfrm>
          <a:prstGeom prst="ellipse">
            <a:avLst/>
          </a:prstGeom>
          <a:solidFill>
            <a:srgbClr val="A98D6D"/>
          </a:solidFill>
          <a:ln w="12700">
            <a:solidFill>
              <a:srgbClr val="A98D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734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4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6974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Delegado crea su cuenta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él mismo en la app.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511296"/>
            <a:ext cx="411480" cy="411480"/>
          </a:xfrm>
          <a:prstGeom prst="ellipse">
            <a:avLst/>
          </a:prstGeom>
          <a:solidFill>
            <a:srgbClr val="A98D6D"/>
          </a:solidFill>
          <a:ln w="12700">
            <a:solidFill>
              <a:srgbClr val="A98D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511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4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47472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verifica que su RUT esté autorizado.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288536"/>
            <a:ext cx="411480" cy="411480"/>
          </a:xfrm>
          <a:prstGeom prst="ellipse">
            <a:avLst/>
          </a:prstGeom>
          <a:solidFill>
            <a:srgbClr val="A98D6D"/>
          </a:solidFill>
          <a:ln w="12700">
            <a:solidFill>
              <a:srgbClr val="A98D6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288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25196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asociado al estudiante automáticamente.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065776"/>
            <a:ext cx="411480" cy="411480"/>
          </a:xfrm>
          <a:prstGeom prst="ellipse">
            <a:avLst/>
          </a:prstGeom>
          <a:solidFill>
            <a:srgbClr val="A98D6D"/>
          </a:solidFill>
          <a:ln w="12700">
            <a:solidFill>
              <a:srgbClr val="A98D6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065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4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02920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al estudiante y la entrega queda registrada.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852160"/>
            <a:ext cx="10908792" cy="594360"/>
          </a:xfrm>
          <a:prstGeom prst="roundRect">
            <a:avLst>
              <a:gd name="adj" fmla="val 18462"/>
            </a:avLst>
          </a:prstGeom>
          <a:solidFill>
            <a:srgbClr val="E6DACB"/>
          </a:solidFill>
          <a:ln w="12700">
            <a:solidFill>
              <a:srgbClr val="E6DAC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" y="58521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apoderado autoriza, pero el delegado crea su propia cuenta.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24270" y="1728216"/>
            <a:ext cx="2239828" cy="2944368"/>
          </a:xfrm>
          <a:prstGeom prst="roundRect">
            <a:avLst>
              <a:gd name="adj" fmla="val 489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2" name="Image 0" descr="/tmp/claude-0/pp/img/im-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134" y="1783080"/>
            <a:ext cx="2130100" cy="283464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7178990" y="1728216"/>
            <a:ext cx="2156083" cy="2944368"/>
          </a:xfrm>
          <a:prstGeom prst="roundRect">
            <a:avLst>
              <a:gd name="adj" fmla="val 50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4" name="Image 1" descr="/tmp/claude-0/pp/img/im-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3854" y="1783080"/>
            <a:ext cx="2046355" cy="283464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9433348" y="1728216"/>
            <a:ext cx="2073065" cy="2944368"/>
          </a:xfrm>
          <a:prstGeom prst="roundRect">
            <a:avLst>
              <a:gd name="adj" fmla="val 52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6" name="Image 2" descr="/tmp/claude-0/pp/img/im-0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212" y="1783080"/>
            <a:ext cx="1963337" cy="2834640"/>
          </a:xfrm>
          <a:prstGeom prst="rect">
            <a:avLst/>
          </a:prstGeom>
        </p:spPr>
      </p:pic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4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A98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 Trazabilidad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del recorrido queda registrada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2F6B5E"/>
          </a:solidFill>
          <a:ln w="12700">
            <a:solidFill>
              <a:srgbClr val="2F6B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517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roles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accede solo a lo que su rol permite.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34256" y="18288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62856" y="2057400"/>
            <a:ext cx="457200" cy="457200"/>
          </a:xfrm>
          <a:prstGeom prst="ellipse">
            <a:avLst/>
          </a:prstGeom>
          <a:solidFill>
            <a:srgbClr val="2F6B5E"/>
          </a:solidFill>
          <a:ln w="12700">
            <a:solidFill>
              <a:srgbClr val="2F6B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285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62856" y="26517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por colegio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administrador ve únicamente la información de su establecimiento.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28432" y="18288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57032" y="2057400"/>
            <a:ext cx="457200" cy="457200"/>
          </a:xfrm>
          <a:prstGeom prst="ellipse">
            <a:avLst/>
          </a:prstGeom>
          <a:solidFill>
            <a:srgbClr val="2F6B5E"/>
          </a:solidFill>
          <a:ln w="12700">
            <a:solidFill>
              <a:srgbClr val="2F6B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5703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57032" y="26517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facial en el abordaje, con código QR como respaldo.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297680"/>
            <a:ext cx="457200" cy="457200"/>
          </a:xfrm>
          <a:prstGeom prst="ellipse">
            <a:avLst/>
          </a:prstGeom>
          <a:solidFill>
            <a:srgbClr val="2F6B5E"/>
          </a:solidFill>
          <a:ln w="12700">
            <a:solidFill>
              <a:srgbClr val="2F6B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8920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Delegados autorizados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entrega se hace solo a personas validadas por RUT.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34256" y="406908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62856" y="4297680"/>
            <a:ext cx="457200" cy="457200"/>
          </a:xfrm>
          <a:prstGeom prst="ellipse">
            <a:avLst/>
          </a:prstGeom>
          <a:solidFill>
            <a:srgbClr val="2F6B5E"/>
          </a:solidFill>
          <a:ln w="12700">
            <a:solidFill>
              <a:srgbClr val="2F6B5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62856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62856" y="48920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Emergencias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conductor puede reportar una emergencia durante la ruta.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28432" y="406908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57032" y="4297680"/>
            <a:ext cx="457200" cy="457200"/>
          </a:xfrm>
          <a:prstGeom prst="ellipse">
            <a:avLst/>
          </a:prstGeom>
          <a:solidFill>
            <a:srgbClr val="2F6B5E"/>
          </a:solidFill>
          <a:ln w="12700">
            <a:solidFill>
              <a:srgbClr val="2F6B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57032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257032" y="48920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Abordajes, entregas y eventos quedan registrados y se notifican.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4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A98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Multi-colegio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plataforma para varios establecimientos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270248" y="178308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2F6B5E"/>
          </a:solidFill>
          <a:ln w="12700">
            <a:solidFill>
              <a:srgbClr val="2F6B5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270248" y="17830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Seguras · una sola base de datos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 flipV="1">
            <a:off x="3355848" y="2560320"/>
            <a:ext cx="2743200" cy="548640"/>
          </a:xfrm>
          <a:prstGeom prst="line">
            <a:avLst/>
          </a:prstGeom>
          <a:noFill/>
          <a:ln w="19050">
            <a:solidFill>
              <a:srgbClr val="A98D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3108960"/>
            <a:ext cx="450799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325880" y="32461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A98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A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Centro · Sede Norte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325880" y="4114800"/>
            <a:ext cx="941832" cy="685800"/>
          </a:xfrm>
          <a:prstGeom prst="roundRect">
            <a:avLst>
              <a:gd name="adj" fmla="val 16000"/>
            </a:avLst>
          </a:prstGeom>
          <a:solidFill>
            <a:srgbClr val="E6DACB"/>
          </a:solidFill>
          <a:ln w="12700">
            <a:solidFill>
              <a:srgbClr val="E6DAC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325880" y="4114800"/>
            <a:ext cx="941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359152" y="4114800"/>
            <a:ext cx="941832" cy="685800"/>
          </a:xfrm>
          <a:prstGeom prst="roundRect">
            <a:avLst>
              <a:gd name="adj" fmla="val 16000"/>
            </a:avLst>
          </a:prstGeom>
          <a:solidFill>
            <a:srgbClr val="E6DACB"/>
          </a:solidFill>
          <a:ln w="12700">
            <a:solidFill>
              <a:srgbClr val="E6DAC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359152" y="4114800"/>
            <a:ext cx="941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92424" y="4114800"/>
            <a:ext cx="941832" cy="685800"/>
          </a:xfrm>
          <a:prstGeom prst="roundRect">
            <a:avLst>
              <a:gd name="adj" fmla="val 16000"/>
            </a:avLst>
          </a:prstGeom>
          <a:solidFill>
            <a:srgbClr val="E6DACB"/>
          </a:solidFill>
          <a:ln w="12700">
            <a:solidFill>
              <a:srgbClr val="E6DAC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392424" y="4114800"/>
            <a:ext cx="941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Furgones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25696" y="4114800"/>
            <a:ext cx="941832" cy="685800"/>
          </a:xfrm>
          <a:prstGeom prst="roundRect">
            <a:avLst>
              <a:gd name="adj" fmla="val 16000"/>
            </a:avLst>
          </a:prstGeom>
          <a:solidFill>
            <a:srgbClr val="E6DACB"/>
          </a:solidFill>
          <a:ln w="12700">
            <a:solidFill>
              <a:srgbClr val="E6DAC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425696" y="4114800"/>
            <a:ext cx="941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99048" y="2560320"/>
            <a:ext cx="2743200" cy="548640"/>
          </a:xfrm>
          <a:prstGeom prst="line">
            <a:avLst/>
          </a:prstGeom>
          <a:noFill/>
          <a:ln w="19050">
            <a:solidFill>
              <a:srgbClr val="A98D6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3108960"/>
            <a:ext cx="450799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812280" y="32461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A98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B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única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12280" y="4114800"/>
            <a:ext cx="941832" cy="685800"/>
          </a:xfrm>
          <a:prstGeom prst="roundRect">
            <a:avLst>
              <a:gd name="adj" fmla="val 16000"/>
            </a:avLst>
          </a:prstGeom>
          <a:solidFill>
            <a:srgbClr val="E6DACB"/>
          </a:solidFill>
          <a:ln w="12700">
            <a:solidFill>
              <a:srgbClr val="E6DAC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812280" y="4114800"/>
            <a:ext cx="941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845552" y="4114800"/>
            <a:ext cx="941832" cy="685800"/>
          </a:xfrm>
          <a:prstGeom prst="roundRect">
            <a:avLst>
              <a:gd name="adj" fmla="val 16000"/>
            </a:avLst>
          </a:prstGeom>
          <a:solidFill>
            <a:srgbClr val="E6DACB"/>
          </a:solidFill>
          <a:ln w="12700">
            <a:solidFill>
              <a:srgbClr val="E6DAC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845552" y="4114800"/>
            <a:ext cx="941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878824" y="4114800"/>
            <a:ext cx="941832" cy="685800"/>
          </a:xfrm>
          <a:prstGeom prst="roundRect">
            <a:avLst>
              <a:gd name="adj" fmla="val 16000"/>
            </a:avLst>
          </a:prstGeom>
          <a:solidFill>
            <a:srgbClr val="E6DACB"/>
          </a:solidFill>
          <a:ln w="12700">
            <a:solidFill>
              <a:srgbClr val="E6DAC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878824" y="4114800"/>
            <a:ext cx="941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Furgones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912096" y="4114800"/>
            <a:ext cx="941832" cy="685800"/>
          </a:xfrm>
          <a:prstGeom prst="roundRect">
            <a:avLst>
              <a:gd name="adj" fmla="val 16000"/>
            </a:avLst>
          </a:prstGeom>
          <a:solidFill>
            <a:srgbClr val="E6DACB"/>
          </a:solidFill>
          <a:ln w="12700">
            <a:solidFill>
              <a:srgbClr val="E6DAC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912096" y="4114800"/>
            <a:ext cx="941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097280" y="5486400"/>
            <a:ext cx="9994392" cy="777240"/>
          </a:xfrm>
          <a:prstGeom prst="roundRect">
            <a:avLst>
              <a:gd name="adj" fmla="val 14118"/>
            </a:avLst>
          </a:prstGeom>
          <a:solidFill>
            <a:srgbClr val="E6DACB"/>
          </a:solidFill>
          <a:ln w="12700">
            <a:solidFill>
              <a:srgbClr val="E6DAC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325880" y="54864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seguridad: </a:t>
            </a: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furgón y cada ruta pertenecen a un único colegio, así un furgón solo transporta estudiantes de su propio establecimiento.</a:t>
            </a:r>
            <a:endParaRPr lang="en-US" sz="15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4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A98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y Tecnologías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0350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276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cliente-servidor</a:t>
            </a:r>
            <a:endParaRPr lang="en-US" sz="1700" dirty="0"/>
          </a:p>
        </p:txBody>
      </p:sp>
      <p:pic>
        <p:nvPicPr>
          <p:cNvPr id="5" name="Image 0" descr="/tmp/claude-0/pp/img/im-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94560"/>
            <a:ext cx="5577840" cy="3149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54864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móvil y el panel web se comunican con una API REST centralizada.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949440" y="1463040"/>
            <a:ext cx="4599432" cy="4754880"/>
          </a:xfrm>
          <a:prstGeom prst="roundRect">
            <a:avLst>
              <a:gd name="adj" fmla="val 23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178040" y="1627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usadas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21488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A98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Móvil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· Angular · TypeScript · Capacitor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28163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A98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· TypeScript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178040" y="34838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A98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Django · Django REST Framework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415137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A98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y rutas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 · API geográfica en Node.js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178040" y="48188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A98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54864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A98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4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A98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y Desarrollo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Trabajamos con Scrum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A98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200" dirty="0">
                <a:solidFill>
                  <a:srgbClr val="2B2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Constanza Reyes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Visión, Product Backlog e historias de usuario.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34256" y="178308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62856" y="19659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A98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200" dirty="0">
                <a:solidFill>
                  <a:srgbClr val="2B2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Chris Bugman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Planificación, Scrumboard, impedimentos y reuniones.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28432" y="178308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57032" y="19659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A98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desarrollo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200" dirty="0">
                <a:solidFill>
                  <a:srgbClr val="2B2826"/>
                </a:solidFill>
                <a:latin typeface="Cambria" pitchFamily="34" charset="0"/>
                <a:ea typeface="Cambria" pitchFamily="34" charset="-122"/>
              </a:rPr>
              <a:t>Sebastián Delso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app móvil, panel web e integración.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 y ceremonias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61772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E6DACB"/>
          </a:solidFill>
          <a:ln w="12700">
            <a:solidFill>
              <a:srgbClr val="E6DAC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475488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</a:t>
            </a:r>
            <a:endParaRPr lang="en-US" sz="1450" dirty="0"/>
          </a:p>
          <a:p>
            <a:pPr marL="0" indent="0">
              <a:buNone/>
            </a:pPr>
            <a:r>
              <a:rPr lang="en-US" sz="13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historias priorizadas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2468880" y="461772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E6DACB"/>
          </a:solidFill>
          <a:ln w="12700">
            <a:solidFill>
              <a:srgbClr val="E6DAC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606040" y="475488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450" dirty="0"/>
          </a:p>
          <a:p>
            <a:pPr marL="0" indent="0">
              <a:buNone/>
            </a:pPr>
            <a:r>
              <a:rPr lang="en-US" sz="13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cada sprint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297680" y="461772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E6DACB"/>
          </a:solidFill>
          <a:ln w="12700">
            <a:solidFill>
              <a:srgbClr val="E6DAC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434840" y="475488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Backlog</a:t>
            </a:r>
            <a:endParaRPr lang="en-US" sz="1450" dirty="0"/>
          </a:p>
          <a:p>
            <a:pPr marL="0" indent="0">
              <a:buNone/>
            </a:pPr>
            <a:r>
              <a:rPr lang="en-US" sz="13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por sprint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26480" y="461772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E6DACB"/>
          </a:solidFill>
          <a:ln w="12700">
            <a:solidFill>
              <a:srgbClr val="E6DAC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263640" y="475488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Meeting</a:t>
            </a:r>
            <a:endParaRPr lang="en-US" sz="1450" dirty="0"/>
          </a:p>
          <a:p>
            <a:pPr marL="0" indent="0">
              <a:buNone/>
            </a:pPr>
            <a:r>
              <a:rPr lang="en-US" sz="13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e impedimentos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955280" y="461772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E6DACB"/>
          </a:solidFill>
          <a:ln w="12700">
            <a:solidFill>
              <a:srgbClr val="E6DAC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092440" y="475488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1450" dirty="0"/>
          </a:p>
          <a:p>
            <a:pPr marL="0" indent="0">
              <a:buNone/>
            </a:pPr>
            <a:r>
              <a:rPr lang="en-US" sz="13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lo construido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9784080" y="461772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E6DACB"/>
          </a:solidFill>
          <a:ln w="12700">
            <a:solidFill>
              <a:srgbClr val="E6DAC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921240" y="475488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450" dirty="0"/>
          </a:p>
          <a:p>
            <a:pPr marL="0" indent="0">
              <a:buNone/>
            </a:pPr>
            <a:r>
              <a:rPr lang="en-US" sz="13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del proceso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 detalladas en la matriz RACI del proyecto.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4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A98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por Sprints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sprints · 14 de agosto al 2 de diciembre de 2026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38328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83280" y="2011680"/>
            <a:ext cx="0" cy="4160520"/>
          </a:xfrm>
          <a:prstGeom prst="line">
            <a:avLst/>
          </a:prstGeom>
          <a:noFill/>
          <a:ln w="9525">
            <a:solidFill>
              <a:srgbClr val="CFC5BC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4904719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04719" y="2011680"/>
            <a:ext cx="0" cy="4160520"/>
          </a:xfrm>
          <a:prstGeom prst="line">
            <a:avLst/>
          </a:prstGeom>
          <a:noFill/>
          <a:ln w="9525">
            <a:solidFill>
              <a:srgbClr val="CFC5BC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979408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79408" y="2011680"/>
            <a:ext cx="0" cy="4160520"/>
          </a:xfrm>
          <a:prstGeom prst="line">
            <a:avLst/>
          </a:prstGeom>
          <a:noFill/>
          <a:ln w="9525">
            <a:solidFill>
              <a:srgbClr val="CFC5BC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9123253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23253" y="2011680"/>
            <a:ext cx="0" cy="4160520"/>
          </a:xfrm>
          <a:prstGeom prst="line">
            <a:avLst/>
          </a:prstGeom>
          <a:noFill/>
          <a:ln w="9525">
            <a:solidFill>
              <a:srgbClr val="CFC5BC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1197942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197942" y="2011680"/>
            <a:ext cx="0" cy="4160520"/>
          </a:xfrm>
          <a:prstGeom prst="line">
            <a:avLst/>
          </a:prstGeom>
          <a:noFill/>
          <a:ln w="9525">
            <a:solidFill>
              <a:srgbClr val="CFC5BC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40080" y="2148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funcional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9905" y="2221992"/>
            <a:ext cx="1452282" cy="438912"/>
          </a:xfrm>
          <a:prstGeom prst="roundRect">
            <a:avLst>
              <a:gd name="adj" fmla="val 16667"/>
            </a:avLst>
          </a:prstGeom>
          <a:solidFill>
            <a:srgbClr val="FFE58A"/>
          </a:solidFill>
          <a:ln w="12700">
            <a:solidFill>
              <a:srgbClr val="FFE5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93945" y="222199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14/08 – 03/09 · 39 pts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81635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y multi-colegio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112188" y="2889504"/>
            <a:ext cx="1452282" cy="438912"/>
          </a:xfrm>
          <a:prstGeom prst="roundRect">
            <a:avLst>
              <a:gd name="adj" fmla="val 16667"/>
            </a:avLst>
          </a:prstGeom>
          <a:solidFill>
            <a:srgbClr val="F6C79A"/>
          </a:solidFill>
          <a:ln w="12700">
            <a:solidFill>
              <a:srgbClr val="F6C7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46228" y="288950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04/09 – 24/09 · 39 pts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483864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de rutas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64470" y="3557016"/>
            <a:ext cx="1452282" cy="438912"/>
          </a:xfrm>
          <a:prstGeom prst="roundRect">
            <a:avLst>
              <a:gd name="adj" fmla="val 16667"/>
            </a:avLst>
          </a:prstGeom>
          <a:solidFill>
            <a:srgbClr val="F5A9A9"/>
          </a:solidFill>
          <a:ln w="12700">
            <a:solidFill>
              <a:srgbClr val="F5A9A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98510" y="355701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25/09 – 15/10 · 71 pts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15137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 · actual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16752" y="4224528"/>
            <a:ext cx="1452282" cy="438912"/>
          </a:xfrm>
          <a:prstGeom prst="roundRect">
            <a:avLst>
              <a:gd name="adj" fmla="val 16667"/>
            </a:avLst>
          </a:prstGeom>
          <a:solidFill>
            <a:srgbClr val="9EDDB2"/>
          </a:solidFill>
          <a:ln w="12700">
            <a:solidFill>
              <a:srgbClr val="9EDDB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50792" y="422452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16/10 – 05/11 · 42 pts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8188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469035" y="4892040"/>
            <a:ext cx="1521439" cy="438912"/>
          </a:xfrm>
          <a:prstGeom prst="roundRect">
            <a:avLst>
              <a:gd name="adj" fmla="val 16667"/>
            </a:avLst>
          </a:prstGeom>
          <a:solidFill>
            <a:srgbClr val="AFCBF5"/>
          </a:solidFill>
          <a:ln w="12700">
            <a:solidFill>
              <a:srgbClr val="AFCB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03075" y="489204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06/11 – 27/11 · 20 pts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4864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entrega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921317" y="5559552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D2C3F2"/>
          </a:solidFill>
          <a:ln w="12700">
            <a:solidFill>
              <a:srgbClr val="D2C3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55357" y="555955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27/11 – 02/12 · 21 pts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A98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final: 2 de diciembre de 2026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4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A98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Actual del Proyecto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según el Product Backlog al cierre del Sprint 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918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2F6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17830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implementadas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32918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154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A98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31546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base implementada o en desarrollo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526280"/>
            <a:ext cx="32918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526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6B6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45262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943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de 211 puntos completados (53 %)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1783080"/>
            <a:ext cx="7251192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15" name="Chart 0"/>
          <p:cNvGraphicFramePr/>
          <p:nvPr/>
        </p:nvGraphicFramePr>
        <p:xfrm>
          <a:off x="4480560" y="1874520"/>
          <a:ext cx="690372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4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A98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Implementadas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A98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40280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 y recuperación de contraseña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permisos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perfil de apoderados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asociados a su apoderado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334256" y="14630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08576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A98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608576" y="2240280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Conductores, furgones y rutas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administrativa de estudiantes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Colegios y sedes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de información por colegio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28432" y="146304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02752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A98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02752" y="2240280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activa para el conductor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para el apoderado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QR y escaneo por el conductor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geolocalización y notificaciones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5715000"/>
            <a:ext cx="10908792" cy="685800"/>
          </a:xfrm>
          <a:prstGeom prst="roundRect">
            <a:avLst>
              <a:gd name="adj" fmla="val 16000"/>
            </a:avLst>
          </a:prstGeom>
          <a:solidFill>
            <a:srgbClr val="E6DACB"/>
          </a:solidFill>
          <a:ln w="12700">
            <a:solidFill>
              <a:srgbClr val="E6DAC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57150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Además: </a:t>
            </a:r>
            <a:r>
              <a:rPr lang="en-US" sz="150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descargable en PDF, primera versión del dashboard y bases del registro de delegados y del registro biométrico.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4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A98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645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· actual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16/10 – 05/11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0604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Subida, bajada y asistencia en ruta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de emergencia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facial con QR de respaldo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el registro de delegados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334256" y="1463040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08576" y="1645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A98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06/11 – 27/11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608576" y="260604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administrativo completo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y pendientes del colegio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app, panel web y backend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 y tiempo real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28432" y="1463040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02752" y="1645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27/11 – 02/12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302752" y="260604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finales de los flujos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aislamiento entre colegios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manual de usuario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B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la entrega final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4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pp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22860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dirty="0" err="1">
                <a:solidFill>
                  <a:srgbClr val="2B2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Muchas</a:t>
            </a:r>
            <a:r>
              <a:rPr lang="en-US" sz="8800" dirty="0">
                <a:solidFill>
                  <a:srgbClr val="2B2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Gracias</a:t>
            </a:r>
            <a:endParaRPr lang="en-US" sz="88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Constanza Reyes · Chris Bugman · Sebastián Delso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1287</Words>
  <Application>Microsoft Office PowerPoint</Application>
  <PresentationFormat>Panorámica</PresentationFormat>
  <Paragraphs>302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Presentación de PowerPoint</vt:lpstr>
      <vt:lpstr>El Problema Actual</vt:lpstr>
      <vt:lpstr>Presentación de PowerPoint</vt:lpstr>
      <vt:lpstr>Objetivo</vt:lpstr>
      <vt:lpstr>Usuarios del Sistema</vt:lpstr>
      <vt:lpstr>¿Cómo Funciona Rutas Seguras?</vt:lpstr>
      <vt:lpstr>Flujo del Apoderado</vt:lpstr>
      <vt:lpstr>Flujo del Delegado</vt:lpstr>
      <vt:lpstr>Seguridad y Trazabilidad</vt:lpstr>
      <vt:lpstr>Modelo Multi-colegio</vt:lpstr>
      <vt:lpstr>Arquitectura y Tecnologías</vt:lpstr>
      <vt:lpstr>Metodología y Desarrollo</vt:lpstr>
      <vt:lpstr>Planificación por Sprints</vt:lpstr>
      <vt:lpstr>Estado Actual del Proyecto</vt:lpstr>
      <vt:lpstr>Funcionalidades Implementadas</vt:lpstr>
      <vt:lpstr>Próximos Pasos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Rutas Seguras</dc:title>
  <dc:subject>PptxGenJS Presentation</dc:subject>
  <dc:creator>Constanza Reyes, Chris Bugman, Sebastian Delso</dc:creator>
  <cp:lastModifiedBy>SSDD</cp:lastModifiedBy>
  <cp:revision>4</cp:revision>
  <dcterms:created xsi:type="dcterms:W3CDTF">2026-10-16T17:55:25Z</dcterms:created>
  <dcterms:modified xsi:type="dcterms:W3CDTF">2026-10-16T18:01:18Z</dcterms:modified>
</cp:coreProperties>
</file>