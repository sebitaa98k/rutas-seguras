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embeddedFontLst>
    <p:embeddedFont>
      <p:font typeface="Cooper Hewitt Bold" panose="020B0604020202020204" charset="0"/>
      <p:regular r:id="rId16"/>
    </p:embeddedFon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ooper Hewitt" panose="020B0604020202020204" charset="0"/>
      <p:regular r:id="rId21"/>
    </p:embeddedFont>
    <p:embeddedFont>
      <p:font typeface="Fraunces" panose="020B0604020202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832305" y="1015101"/>
            <a:ext cx="726252" cy="720805"/>
          </a:xfrm>
          <a:custGeom>
            <a:avLst/>
            <a:gdLst/>
            <a:ahLst/>
            <a:cxnLst/>
            <a:rect l="l" t="t" r="r" b="b"/>
            <a:pathLst>
              <a:path w="726252" h="720805">
                <a:moveTo>
                  <a:pt x="0" y="0"/>
                </a:moveTo>
                <a:lnTo>
                  <a:pt x="726252" y="0"/>
                </a:lnTo>
                <a:lnTo>
                  <a:pt x="726252" y="720805"/>
                </a:lnTo>
                <a:lnTo>
                  <a:pt x="0" y="7208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468540" y="3010754"/>
            <a:ext cx="7446548" cy="942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597"/>
              </a:lnSpc>
            </a:pPr>
            <a:r>
              <a:rPr lang="en-US" sz="4041" spc="-169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PLATAFORMA INTEGRAL PARA 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769342" y="4308679"/>
            <a:ext cx="14749315" cy="22125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6121"/>
              </a:lnSpc>
            </a:pPr>
            <a:r>
              <a:rPr lang="en-US" sz="18114" spc="-1394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Rutas Seguras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48668" y="7895242"/>
            <a:ext cx="6086294" cy="382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826"/>
              </a:lnSpc>
              <a:spcBef>
                <a:spcPct val="0"/>
              </a:spcBef>
            </a:pPr>
            <a:r>
              <a:rPr lang="en-US" sz="3175" spc="-209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Transporte Escolar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001557" y="7331611"/>
            <a:ext cx="3199671" cy="130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Constanza Reyes</a:t>
            </a:r>
          </a:p>
          <a:p>
            <a:pPr algn="l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Chris Bugman</a:t>
            </a:r>
          </a:p>
          <a:p>
            <a:pPr marL="0" lvl="0" indent="0" algn="l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Sebastian Delso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785636" y="1840590"/>
            <a:ext cx="2812357" cy="3624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470"/>
              </a:lnSpc>
            </a:pPr>
            <a:r>
              <a:rPr lang="en-US" sz="1976" b="1" spc="-7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Rutas Seguras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81696" y="1216678"/>
            <a:ext cx="420236" cy="33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291"/>
              </a:lnSpc>
            </a:pPr>
            <a:r>
              <a:rPr lang="en-US" sz="1833" b="1" spc="-7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513094" y="7567476"/>
            <a:ext cx="3053378" cy="471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39"/>
              </a:lnSpc>
            </a:pPr>
            <a:r>
              <a:rPr lang="en-US" sz="2437" spc="-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Juan Gana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098194" y="1257915"/>
            <a:ext cx="7013640" cy="7771170"/>
            <a:chOff x="0" y="0"/>
            <a:chExt cx="9351520" cy="1036156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t="347" b="347"/>
            <a:stretch>
              <a:fillRect/>
            </a:stretch>
          </p:blipFill>
          <p:spPr>
            <a:xfrm>
              <a:off x="0" y="0"/>
              <a:ext cx="9351520" cy="10361560"/>
            </a:xfrm>
            <a:prstGeom prst="rect">
              <a:avLst/>
            </a:prstGeom>
          </p:spPr>
        </p:pic>
      </p:grpSp>
      <p:sp>
        <p:nvSpPr>
          <p:cNvPr id="4" name="TextBox 4"/>
          <p:cNvSpPr txBox="1"/>
          <p:nvPr/>
        </p:nvSpPr>
        <p:spPr>
          <a:xfrm>
            <a:off x="1409272" y="920920"/>
            <a:ext cx="7734728" cy="88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8"/>
              </a:lnSpc>
              <a:spcBef>
                <a:spcPct val="0"/>
              </a:spcBef>
            </a:pPr>
            <a:r>
              <a:rPr lang="en-US" sz="7200" spc="-417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El Problema Actual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648601" y="2559685"/>
            <a:ext cx="7734728" cy="55200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919"/>
              </a:lnSpc>
            </a:pPr>
            <a:r>
              <a:rPr lang="en-US" sz="27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transporte escolar presenta un</a:t>
            </a:r>
            <a:r>
              <a:rPr lang="en-US" sz="27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 falta de visibilidad y control durante el traslado de los estudiantes.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apoderado no sabe dónde está el furgón.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No tiene confirmación inmediata del abordaje o entrega.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conductor necesita herramientas para gestionar su recorrido.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colegio carece de una visión centralizada del proceso.</a:t>
            </a:r>
          </a:p>
          <a:p>
            <a:pPr marL="0" lvl="0" indent="0" algn="l">
              <a:lnSpc>
                <a:spcPts val="3919"/>
              </a:lnSpc>
            </a:pPr>
            <a:endParaRPr lang="en-US" sz="2799" b="1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711008" y="7974965"/>
            <a:ext cx="5609915" cy="7437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  <a:spcBef>
                <a:spcPct val="0"/>
              </a:spcBef>
            </a:pP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problema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central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es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la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falta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información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en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tiempo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real y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trazabilidad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del </a:t>
            </a:r>
            <a:r>
              <a:rPr lang="en-US" sz="2100" dirty="0" err="1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traslado</a:t>
            </a:r>
            <a:r>
              <a:rPr lang="en-US" sz="2100" dirty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100" dirty="0" smtClean="0">
                <a:solidFill>
                  <a:srgbClr val="000000"/>
                </a:solidFill>
                <a:latin typeface="Cooper Hewitt"/>
                <a:ea typeface="Cooper Hewitt"/>
                <a:cs typeface="Cooper Hewitt"/>
                <a:sym typeface="Cooper Hewitt"/>
              </a:rPr>
              <a:t>escolar.</a:t>
            </a:r>
            <a:endParaRPr lang="en-US" sz="2100" dirty="0">
              <a:solidFill>
                <a:srgbClr val="000000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0"/>
            <a:ext cx="9487114" cy="10429729"/>
            <a:chOff x="0" y="0"/>
            <a:chExt cx="2498664" cy="27469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98664" cy="2746925"/>
            </a:xfrm>
            <a:custGeom>
              <a:avLst/>
              <a:gdLst/>
              <a:ahLst/>
              <a:cxnLst/>
              <a:rect l="l" t="t" r="r" b="b"/>
              <a:pathLst>
                <a:path w="2498664" h="2746925">
                  <a:moveTo>
                    <a:pt x="0" y="0"/>
                  </a:moveTo>
                  <a:lnTo>
                    <a:pt x="2498664" y="0"/>
                  </a:lnTo>
                  <a:lnTo>
                    <a:pt x="2498664" y="2746925"/>
                  </a:lnTo>
                  <a:lnTo>
                    <a:pt x="0" y="2746925"/>
                  </a:lnTo>
                  <a:close/>
                </a:path>
              </a:pathLst>
            </a:custGeom>
            <a:solidFill>
              <a:srgbClr val="E8DAC5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2498664" cy="28326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456307" y="380296"/>
            <a:ext cx="8467917" cy="9526407"/>
            <a:chOff x="0" y="0"/>
            <a:chExt cx="11290557" cy="12701876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2"/>
            <a:srcRect l="410" r="410"/>
            <a:stretch>
              <a:fillRect/>
            </a:stretch>
          </p:blipFill>
          <p:spPr>
            <a:xfrm>
              <a:off x="0" y="0"/>
              <a:ext cx="11290557" cy="12701876"/>
            </a:xfrm>
            <a:prstGeom prst="rect">
              <a:avLst/>
            </a:prstGeom>
          </p:spPr>
        </p:pic>
      </p:grpSp>
      <p:sp>
        <p:nvSpPr>
          <p:cNvPr id="7" name="TextBox 7"/>
          <p:cNvSpPr txBox="1"/>
          <p:nvPr/>
        </p:nvSpPr>
        <p:spPr>
          <a:xfrm>
            <a:off x="1550281" y="1190625"/>
            <a:ext cx="6062640" cy="636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92"/>
              </a:lnSpc>
              <a:spcBef>
                <a:spcPct val="0"/>
              </a:spcBef>
            </a:pPr>
            <a:r>
              <a:rPr lang="en-US" sz="5272" spc="-305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Nuestra Solución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50281" y="2253493"/>
            <a:ext cx="6062640" cy="180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1" dirty="0" err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Rutas</a:t>
            </a:r>
            <a:r>
              <a:rPr lang="en-US" sz="2498" b="1" dirty="0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</a:t>
            </a:r>
            <a:r>
              <a:rPr lang="en-US" sz="2498" b="1" dirty="0" err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Seguras</a:t>
            </a:r>
            <a:endParaRPr lang="en-US" sz="2498" b="1" dirty="0">
              <a:solidFill>
                <a:srgbClr val="25282A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  <a:p>
            <a:pPr marL="0" lvl="0" indent="0" algn="l">
              <a:lnSpc>
                <a:spcPts val="3497"/>
              </a:lnSpc>
            </a:pP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Una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plataforma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que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conecta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a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todos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los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actores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del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transporte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escolar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un solo </a:t>
            </a:r>
            <a:r>
              <a:rPr lang="en-US" sz="2498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Sistema.</a:t>
            </a:r>
            <a:endParaRPr lang="en-US" sz="2498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550281" y="4704637"/>
            <a:ext cx="2034545" cy="1803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App Móvil</a:t>
            </a:r>
          </a:p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Apoderados</a:t>
            </a:r>
          </a:p>
          <a:p>
            <a:pPr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Conductores</a:t>
            </a:r>
          </a:p>
          <a:p>
            <a:pPr marL="0" lvl="0" indent="0"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Delegados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80201" y="4485562"/>
            <a:ext cx="3567626" cy="927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Panel Web</a:t>
            </a:r>
          </a:p>
          <a:p>
            <a:pPr marL="0" lvl="0" indent="0"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Administración y gestión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680201" y="5549210"/>
            <a:ext cx="3289932" cy="136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7"/>
              </a:lnSpc>
            </a:pPr>
            <a:r>
              <a:rPr lang="en-US" sz="24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Backend</a:t>
            </a:r>
          </a:p>
          <a:p>
            <a:pPr marL="0" lvl="0" indent="0" algn="l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Centraliza y conecta toda la información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009606" y="7893005"/>
            <a:ext cx="5341190" cy="136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7"/>
              </a:lnSpc>
            </a:pPr>
            <a:r>
              <a:rPr lang="en-US" sz="2498" b="1" dirty="0" err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Propuesta</a:t>
            </a:r>
            <a:r>
              <a:rPr lang="en-US" sz="2498" b="1" dirty="0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 de valor: 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Mayor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seguridad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,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comunicación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control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durante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todo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el </a:t>
            </a:r>
            <a:r>
              <a:rPr lang="en-US" sz="2498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recorrido</a:t>
            </a:r>
            <a:r>
              <a:rPr lang="en-US" sz="2498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2498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188701"/>
            <a:ext cx="4760856" cy="57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57"/>
              </a:lnSpc>
            </a:pPr>
            <a:r>
              <a:rPr lang="en-US" sz="28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 general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358740" y="3247052"/>
            <a:ext cx="9570521" cy="897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Mejorar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la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seguridad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del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transporte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escolar a </a:t>
            </a:r>
            <a:r>
              <a:rPr lang="en-US" sz="2498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través</a:t>
            </a:r>
            <a:r>
              <a:rPr lang="en-US" sz="2498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de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una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plataforma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integrada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con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comunicación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tiempo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real.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58740" y="581047"/>
            <a:ext cx="9570521" cy="9524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395"/>
              </a:lnSpc>
              <a:spcBef>
                <a:spcPct val="0"/>
              </a:spcBef>
            </a:pPr>
            <a:r>
              <a:rPr lang="en-US" sz="6662" u="none" strike="noStrike" spc="-313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Objetivo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239123" y="5047805"/>
            <a:ext cx="4760856" cy="5740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57"/>
              </a:lnSpc>
            </a:pPr>
            <a:r>
              <a:rPr lang="en-US" sz="28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Objetivos específicos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358740" y="5887740"/>
            <a:ext cx="9570521" cy="18035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411" lvl="1" indent="-269706" algn="l">
              <a:lnSpc>
                <a:spcPts val="3497"/>
              </a:lnSpc>
              <a:buFont typeface="Arial"/>
              <a:buChar char="•"/>
            </a:pP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Seguridad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Identificación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biométrica</a:t>
            </a:r>
            <a:r>
              <a:rPr lang="en-US" sz="2498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y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registro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eventos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</a:p>
          <a:p>
            <a:pPr marL="539411" lvl="1" indent="-269706" algn="l">
              <a:lnSpc>
                <a:spcPts val="3497"/>
              </a:lnSpc>
              <a:buFont typeface="Arial"/>
              <a:buChar char="•"/>
            </a:pP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Organización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</a:t>
            </a:r>
            <a:r>
              <a:rPr lang="en-US" sz="2498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Gestión</a:t>
            </a:r>
            <a:r>
              <a:rPr lang="en-US" sz="2498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de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conductores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,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furgones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rutas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</a:p>
          <a:p>
            <a:pPr marL="539411" lvl="1" indent="-269706" algn="l">
              <a:lnSpc>
                <a:spcPts val="3497"/>
              </a:lnSpc>
              <a:buFont typeface="Arial"/>
              <a:buChar char="•"/>
            </a:pP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Comunicación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Notificaciones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entre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los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actores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del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sistema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</a:p>
          <a:p>
            <a:pPr marL="539411" lvl="1" indent="-269706" algn="l">
              <a:lnSpc>
                <a:spcPts val="3497"/>
              </a:lnSpc>
              <a:buFont typeface="Arial"/>
              <a:buChar char="•"/>
            </a:pP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Control: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Información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centralizada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trazabilidad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del </a:t>
            </a:r>
            <a:r>
              <a:rPr lang="en-US" sz="2498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traslado</a:t>
            </a:r>
            <a:r>
              <a:rPr lang="en-US" sz="2498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8700" y="7326216"/>
            <a:ext cx="1577336" cy="1577336"/>
            <a:chOff x="0" y="0"/>
            <a:chExt cx="6350000" cy="63500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8D6D"/>
            </a:solidFill>
          </p:spPr>
        </p:sp>
      </p:grpSp>
      <p:sp>
        <p:nvSpPr>
          <p:cNvPr id="4" name="Freeform 4"/>
          <p:cNvSpPr/>
          <p:nvPr/>
        </p:nvSpPr>
        <p:spPr>
          <a:xfrm>
            <a:off x="1360397" y="7728353"/>
            <a:ext cx="887395" cy="847059"/>
          </a:xfrm>
          <a:custGeom>
            <a:avLst/>
            <a:gdLst/>
            <a:ahLst/>
            <a:cxnLst/>
            <a:rect l="l" t="t" r="r" b="b"/>
            <a:pathLst>
              <a:path w="887395" h="847059">
                <a:moveTo>
                  <a:pt x="0" y="0"/>
                </a:moveTo>
                <a:lnTo>
                  <a:pt x="887395" y="0"/>
                </a:lnTo>
                <a:lnTo>
                  <a:pt x="887395" y="847059"/>
                </a:lnTo>
                <a:lnTo>
                  <a:pt x="0" y="8470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1028700" y="4791296"/>
            <a:ext cx="1577336" cy="1577336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8D6D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1397202" y="5131001"/>
            <a:ext cx="847868" cy="872093"/>
          </a:xfrm>
          <a:custGeom>
            <a:avLst/>
            <a:gdLst/>
            <a:ahLst/>
            <a:cxnLst/>
            <a:rect l="l" t="t" r="r" b="b"/>
            <a:pathLst>
              <a:path w="847868" h="872093">
                <a:moveTo>
                  <a:pt x="0" y="0"/>
                </a:moveTo>
                <a:lnTo>
                  <a:pt x="847868" y="0"/>
                </a:lnTo>
                <a:lnTo>
                  <a:pt x="847868" y="872093"/>
                </a:lnTo>
                <a:lnTo>
                  <a:pt x="0" y="8720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8" name="Group 8"/>
          <p:cNvGrpSpPr/>
          <p:nvPr/>
        </p:nvGrpSpPr>
        <p:grpSpPr>
          <a:xfrm>
            <a:off x="1028700" y="2425292"/>
            <a:ext cx="1577336" cy="1577336"/>
            <a:chOff x="0" y="0"/>
            <a:chExt cx="6350000" cy="635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6350000" cy="6350000"/>
            </a:xfrm>
            <a:custGeom>
              <a:avLst/>
              <a:gdLst/>
              <a:ahLst/>
              <a:cxnLst/>
              <a:rect l="l" t="t" r="r" b="b"/>
              <a:pathLst>
                <a:path w="6350000" h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A98D6D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1359400" y="2864938"/>
            <a:ext cx="924564" cy="840758"/>
          </a:xfrm>
          <a:custGeom>
            <a:avLst/>
            <a:gdLst/>
            <a:ahLst/>
            <a:cxnLst/>
            <a:rect l="l" t="t" r="r" b="b"/>
            <a:pathLst>
              <a:path w="924564" h="840758">
                <a:moveTo>
                  <a:pt x="0" y="0"/>
                </a:moveTo>
                <a:lnTo>
                  <a:pt x="924564" y="0"/>
                </a:lnTo>
                <a:lnTo>
                  <a:pt x="924564" y="840759"/>
                </a:lnTo>
                <a:lnTo>
                  <a:pt x="0" y="8407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2915810" y="2353772"/>
            <a:ext cx="4279949" cy="173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399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Administrador</a:t>
            </a:r>
          </a:p>
          <a:p>
            <a:pPr marL="0" lvl="0" indent="0" algn="ctr">
              <a:lnSpc>
                <a:spcPts val="3359"/>
              </a:lnSpc>
            </a:pPr>
            <a:r>
              <a:rPr lang="en-US" sz="23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Gestiona rutas, conductores, apoderados, furgones y permisos.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915810" y="4898291"/>
            <a:ext cx="4279949" cy="1739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399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Apoderado y Delegado</a:t>
            </a:r>
          </a:p>
          <a:p>
            <a:pPr marL="0" lvl="0" indent="0" algn="ctr">
              <a:lnSpc>
                <a:spcPts val="3359"/>
              </a:lnSpc>
            </a:pPr>
            <a:r>
              <a:rPr lang="en-US" sz="23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Administra a sus hijos, consulta el seguimiento y autoriza delegados.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915810" y="7202391"/>
            <a:ext cx="4279949" cy="1320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359"/>
              </a:lnSpc>
            </a:pPr>
            <a:r>
              <a:rPr lang="en-US" sz="2399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Conductor </a:t>
            </a:r>
          </a:p>
          <a:p>
            <a:pPr marL="0" lvl="0" indent="0" algn="ctr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</a:t>
            </a:r>
            <a:r>
              <a:rPr lang="en-US" sz="2399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estiona su ruta, registra abordajes y reporta incidencias.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549402"/>
            <a:ext cx="16160709" cy="10252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992"/>
              </a:lnSpc>
            </a:pPr>
            <a:r>
              <a:rPr lang="en-US" sz="7200" spc="-187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Usuarios del Sistema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972223" y="1460373"/>
            <a:ext cx="9570521" cy="488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7"/>
              </a:lnSpc>
            </a:pPr>
            <a:r>
              <a:rPr lang="en-US" sz="24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¿Quiénes utilizan Rutas Seguras?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357531" y="3566164"/>
            <a:ext cx="6325188" cy="1577336"/>
            <a:chOff x="0" y="0"/>
            <a:chExt cx="8433584" cy="2103115"/>
          </a:xfrm>
        </p:grpSpPr>
        <p:grpSp>
          <p:nvGrpSpPr>
            <p:cNvPr id="17" name="Group 17"/>
            <p:cNvGrpSpPr/>
            <p:nvPr/>
          </p:nvGrpSpPr>
          <p:grpSpPr>
            <a:xfrm>
              <a:off x="0" y="0"/>
              <a:ext cx="2103115" cy="2103115"/>
              <a:chOff x="0" y="0"/>
              <a:chExt cx="6350000" cy="63500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98D6D"/>
              </a:solidFill>
            </p:spPr>
          </p:sp>
        </p:grpSp>
        <p:sp>
          <p:nvSpPr>
            <p:cNvPr id="19" name="Freeform 19"/>
            <p:cNvSpPr/>
            <p:nvPr/>
          </p:nvSpPr>
          <p:spPr>
            <a:xfrm>
              <a:off x="362409" y="0"/>
              <a:ext cx="1378147" cy="2103115"/>
            </a:xfrm>
            <a:custGeom>
              <a:avLst/>
              <a:gdLst/>
              <a:ahLst/>
              <a:cxnLst/>
              <a:rect l="l" t="t" r="r" b="b"/>
              <a:pathLst>
                <a:path w="1378147" h="2103115">
                  <a:moveTo>
                    <a:pt x="0" y="0"/>
                  </a:moveTo>
                  <a:lnTo>
                    <a:pt x="1378147" y="0"/>
                  </a:lnTo>
                  <a:lnTo>
                    <a:pt x="1378147" y="2103115"/>
                  </a:lnTo>
                  <a:lnTo>
                    <a:pt x="0" y="21031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t="-8507" b="-8507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2726985" y="150366"/>
              <a:ext cx="5706599" cy="171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59"/>
                </a:lnSpc>
              </a:pPr>
              <a:r>
                <a:rPr lang="en-US" sz="2399" b="1">
                  <a:solidFill>
                    <a:srgbClr val="25282A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Estudiante</a:t>
              </a:r>
            </a:p>
            <a:p>
              <a:pPr marL="0" lvl="0" indent="0" algn="ctr">
                <a:lnSpc>
                  <a:spcPts val="3359"/>
                </a:lnSpc>
              </a:pPr>
              <a:r>
                <a:rPr lang="en-US" sz="2399">
                  <a:solidFill>
                    <a:srgbClr val="25282A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Beneficiario principal del sistema de transporte.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57531" y="6368632"/>
            <a:ext cx="6325188" cy="1577336"/>
            <a:chOff x="0" y="0"/>
            <a:chExt cx="8433584" cy="2103115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2103115" cy="2103115"/>
              <a:chOff x="0" y="0"/>
              <a:chExt cx="6350000" cy="6350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6350000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50000" h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A98D6D"/>
              </a:solidFill>
            </p:spPr>
          </p:sp>
        </p:grpSp>
        <p:sp>
          <p:nvSpPr>
            <p:cNvPr id="24" name="Freeform 24"/>
            <p:cNvSpPr/>
            <p:nvPr/>
          </p:nvSpPr>
          <p:spPr>
            <a:xfrm>
              <a:off x="270268" y="651807"/>
              <a:ext cx="1562430" cy="624972"/>
            </a:xfrm>
            <a:custGeom>
              <a:avLst/>
              <a:gdLst/>
              <a:ahLst/>
              <a:cxnLst/>
              <a:rect l="l" t="t" r="r" b="b"/>
              <a:pathLst>
                <a:path w="1562430" h="624972">
                  <a:moveTo>
                    <a:pt x="0" y="0"/>
                  </a:moveTo>
                  <a:lnTo>
                    <a:pt x="1562429" y="0"/>
                  </a:lnTo>
                  <a:lnTo>
                    <a:pt x="1562429" y="624972"/>
                  </a:lnTo>
                  <a:lnTo>
                    <a:pt x="0" y="624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25" name="TextBox 25"/>
            <p:cNvSpPr txBox="1"/>
            <p:nvPr/>
          </p:nvSpPr>
          <p:spPr>
            <a:xfrm>
              <a:off x="2726985" y="96671"/>
              <a:ext cx="5706599" cy="171894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3359"/>
                </a:lnSpc>
              </a:pPr>
              <a:r>
                <a:rPr lang="en-US" sz="2399" b="1">
                  <a:solidFill>
                    <a:srgbClr val="25282A"/>
                  </a:solidFill>
                  <a:latin typeface="Cooper Hewitt Bold"/>
                  <a:ea typeface="Cooper Hewitt Bold"/>
                  <a:cs typeface="Cooper Hewitt Bold"/>
                  <a:sym typeface="Cooper Hewitt Bold"/>
                </a:rPr>
                <a:t>Delegado</a:t>
              </a:r>
            </a:p>
            <a:p>
              <a:pPr marL="0" lvl="0" indent="0" algn="ctr">
                <a:lnSpc>
                  <a:spcPts val="3359"/>
                </a:lnSpc>
              </a:pPr>
              <a:r>
                <a:rPr lang="en-US" sz="2399" b="1">
                  <a:solidFill>
                    <a:srgbClr val="25282A"/>
                  </a:solidFill>
                  <a:latin typeface="Cooper Hewitt"/>
                  <a:ea typeface="Cooper Hewitt"/>
                  <a:cs typeface="Cooper Hewitt"/>
                  <a:sym typeface="Cooper Hewitt"/>
                </a:rPr>
                <a:t>Persona autorizada para recibir o entregar al estudiante.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32865" y="3026932"/>
            <a:ext cx="227087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8" lvl="1" indent="-250984" algn="just">
              <a:lnSpc>
                <a:spcPts val="3254"/>
              </a:lnSpc>
              <a:spcBef>
                <a:spcPct val="0"/>
              </a:spcBef>
              <a:buAutoNum type="arabicPeriod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Configuración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3482062" y="3026932"/>
            <a:ext cx="227087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8" lvl="1" indent="-250984" algn="just">
              <a:lnSpc>
                <a:spcPts val="3254"/>
              </a:lnSpc>
              <a:spcBef>
                <a:spcPct val="0"/>
              </a:spcBef>
              <a:buAutoNum type="arabicPeriod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Inicio de Ruta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32865" y="3853136"/>
            <a:ext cx="2798754" cy="79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</a:t>
            </a:r>
            <a:r>
              <a:rPr lang="en-US" sz="2100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dministrador configura rutas y asignaciones.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482062" y="3818736"/>
            <a:ext cx="2798754" cy="116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Conductor inicia el recorrido.</a:t>
            </a:r>
          </a:p>
          <a:p>
            <a:pPr marL="0" lvl="0" indent="0" algn="ctr">
              <a:lnSpc>
                <a:spcPts val="2940"/>
              </a:lnSpc>
            </a:pPr>
            <a:endParaRPr lang="en-US" sz="210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-155958" y="3675861"/>
            <a:ext cx="18824318" cy="0"/>
          </a:xfrm>
          <a:prstGeom prst="line">
            <a:avLst/>
          </a:prstGeom>
          <a:ln w="38100" cap="flat">
            <a:solidFill>
              <a:srgbClr val="E8DAC5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6874880" y="3026932"/>
            <a:ext cx="227087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8" lvl="1" indent="-250984" algn="just">
              <a:lnSpc>
                <a:spcPts val="3254"/>
              </a:lnSpc>
              <a:spcBef>
                <a:spcPct val="0"/>
              </a:spcBef>
              <a:buAutoNum type="arabicPeriod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Abordaje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528466" y="3818736"/>
            <a:ext cx="2798754" cy="19088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estudiante se identifica mediante dato biométrico o QR como método de respaldo.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926807" y="3030066"/>
            <a:ext cx="227087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8" lvl="1" indent="-250984" algn="just">
              <a:lnSpc>
                <a:spcPts val="3254"/>
              </a:lnSpc>
              <a:spcBef>
                <a:spcPct val="0"/>
              </a:spcBef>
              <a:buAutoNum type="arabicPeriod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Seguimiento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281140" y="3030066"/>
            <a:ext cx="227087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8" lvl="1" indent="-250984" algn="just">
              <a:lnSpc>
                <a:spcPts val="3254"/>
              </a:lnSpc>
              <a:spcBef>
                <a:spcPct val="0"/>
              </a:spcBef>
              <a:buAutoNum type="arabicPeriod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Entrega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904803" y="3818736"/>
            <a:ext cx="2798754" cy="1165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Apoderado consulta el estado del traslado.</a:t>
            </a:r>
          </a:p>
          <a:p>
            <a:pPr marL="0" lvl="0" indent="0" algn="ctr">
              <a:lnSpc>
                <a:spcPts val="2940"/>
              </a:lnSpc>
            </a:pPr>
            <a:endParaRPr lang="en-US" sz="210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154660" y="3792066"/>
            <a:ext cx="2270877" cy="22802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Estudiante es entregado al apoderado o delegado autorizado.</a:t>
            </a:r>
          </a:p>
          <a:p>
            <a:pPr marL="0" lvl="0" indent="0" algn="ctr">
              <a:lnSpc>
                <a:spcPts val="2940"/>
              </a:lnSpc>
            </a:pPr>
            <a:endParaRPr lang="en-US" sz="210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498430" y="776093"/>
            <a:ext cx="9291139" cy="6766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961"/>
              </a:lnSpc>
              <a:spcBef>
                <a:spcPct val="0"/>
              </a:spcBef>
            </a:pPr>
            <a:r>
              <a:rPr lang="en-US" sz="5574" u="none" strike="noStrike" spc="-423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¿Cómo Funciona Rutas Seguras?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123862" y="3030066"/>
            <a:ext cx="2270877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1968" lvl="1" indent="-250984" algn="just">
              <a:lnSpc>
                <a:spcPts val="3254"/>
              </a:lnSpc>
              <a:spcBef>
                <a:spcPct val="0"/>
              </a:spcBef>
              <a:buAutoNum type="arabicPeriod"/>
            </a:pPr>
            <a:r>
              <a:rPr lang="en-US" sz="2325" spc="-15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Final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673186" y="3818736"/>
            <a:ext cx="2347848" cy="794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940"/>
              </a:lnSpc>
            </a:pPr>
            <a:r>
              <a:rPr lang="en-US" sz="210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 registra el cierre de la ruta.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635393" y="2758482"/>
            <a:ext cx="4946253" cy="581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718"/>
              </a:lnSpc>
              <a:spcBef>
                <a:spcPct val="0"/>
              </a:spcBef>
            </a:pPr>
            <a:r>
              <a:rPr lang="en-US" sz="3370" spc="-219" dirty="0" err="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Desde</a:t>
            </a:r>
            <a:r>
              <a:rPr lang="en-US" sz="3370" spc="-219" dirty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 la </a:t>
            </a:r>
            <a:r>
              <a:rPr lang="en-US" sz="3370" spc="-219" dirty="0" err="1" smtClean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aplicación</a:t>
            </a:r>
            <a:r>
              <a:rPr lang="en-US" sz="3370" spc="-219" dirty="0" smtClean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  <a:r>
              <a:rPr lang="en-US" sz="3370" spc="-219" dirty="0" err="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móvil</a:t>
            </a:r>
            <a:endParaRPr lang="en-US" sz="3370" spc="-219" dirty="0">
              <a:solidFill>
                <a:srgbClr val="25282A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4589163" y="3961213"/>
            <a:ext cx="11284819" cy="17392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1.-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Gestiona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sus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hijos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→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Consulta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administra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la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información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los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estudiantes</a:t>
            </a:r>
            <a:r>
              <a:rPr lang="en-US" sz="2399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2399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l">
              <a:lnSpc>
                <a:spcPts val="3359"/>
              </a:lnSpc>
            </a:pP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2.-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Autoriza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un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delegado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→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Registra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el RUT de la persona </a:t>
            </a:r>
            <a:r>
              <a:rPr lang="en-US" sz="2399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autorizada</a:t>
            </a:r>
            <a:r>
              <a:rPr lang="en-US" sz="2399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2399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l">
              <a:lnSpc>
                <a:spcPts val="3359"/>
              </a:lnSpc>
            </a:pP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3.-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Consulta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la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ruta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→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Puede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revisar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el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estado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del </a:t>
            </a:r>
            <a:r>
              <a:rPr lang="en-US" sz="2399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traslado</a:t>
            </a:r>
            <a:r>
              <a:rPr lang="en-US" sz="2399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2399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0" lvl="0" indent="0" algn="l">
              <a:lnSpc>
                <a:spcPts val="3359"/>
              </a:lnSpc>
            </a:pP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4.-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Recibe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notificaciones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→ 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Recibe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avisos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sobre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inicio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,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abordaje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,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incidentes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</a:t>
            </a:r>
            <a:r>
              <a:rPr lang="en-US" sz="2399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entrega</a:t>
            </a:r>
            <a:r>
              <a:rPr lang="en-US" sz="2399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2399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5371687" y="1200150"/>
            <a:ext cx="9291139" cy="67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57"/>
              </a:lnSpc>
              <a:spcBef>
                <a:spcPct val="0"/>
              </a:spcBef>
            </a:pPr>
            <a:r>
              <a:rPr lang="en-US" sz="5570" u="none" strike="noStrike" spc="-423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Flujo del Apoderado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42467" y="7162607"/>
            <a:ext cx="10373977" cy="90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 dirty="0" err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Resultado</a:t>
            </a:r>
            <a:endParaRPr lang="en-US" sz="2399" b="1" dirty="0">
              <a:solidFill>
                <a:srgbClr val="25282A"/>
              </a:solidFill>
              <a:latin typeface="Cooper Hewitt Bold"/>
              <a:ea typeface="Cooper Hewitt Bold"/>
              <a:cs typeface="Cooper Hewitt Bold"/>
              <a:sym typeface="Cooper Hewitt Bold"/>
            </a:endParaRPr>
          </a:p>
          <a:p>
            <a:pPr marL="0" lvl="0" indent="0" algn="l">
              <a:lnSpc>
                <a:spcPts val="3359"/>
              </a:lnSpc>
            </a:pP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apoderado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tiene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mayor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información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y control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sobre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el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traslado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su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2399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hijo</a:t>
            </a:r>
            <a:r>
              <a:rPr lang="en-US" sz="2399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70162" y="1028700"/>
            <a:ext cx="4237519" cy="7792709"/>
            <a:chOff x="0" y="0"/>
            <a:chExt cx="5650025" cy="10390279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552" r="27352"/>
            <a:stretch>
              <a:fillRect/>
            </a:stretch>
          </p:blipFill>
          <p:spPr>
            <a:xfrm>
              <a:off x="0" y="0"/>
              <a:ext cx="5650025" cy="10390279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12398006" y="1154968"/>
            <a:ext cx="4326127" cy="7792709"/>
            <a:chOff x="0" y="0"/>
            <a:chExt cx="5768170" cy="10390279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316" r="26374"/>
            <a:stretch>
              <a:fillRect/>
            </a:stretch>
          </p:blipFill>
          <p:spPr>
            <a:xfrm>
              <a:off x="0" y="0"/>
              <a:ext cx="5768170" cy="10390279"/>
            </a:xfrm>
            <a:prstGeom prst="rect">
              <a:avLst/>
            </a:prstGeom>
          </p:spPr>
        </p:pic>
      </p:grpSp>
      <p:sp>
        <p:nvSpPr>
          <p:cNvPr id="6" name="Freeform 6"/>
          <p:cNvSpPr/>
          <p:nvPr/>
        </p:nvSpPr>
        <p:spPr>
          <a:xfrm>
            <a:off x="6745084" y="1154968"/>
            <a:ext cx="4726476" cy="6159548"/>
          </a:xfrm>
          <a:custGeom>
            <a:avLst/>
            <a:gdLst/>
            <a:ahLst/>
            <a:cxnLst/>
            <a:rect l="l" t="t" r="r" b="b"/>
            <a:pathLst>
              <a:path w="4726476" h="6159548">
                <a:moveTo>
                  <a:pt x="0" y="0"/>
                </a:moveTo>
                <a:lnTo>
                  <a:pt x="4726476" y="0"/>
                </a:lnTo>
                <a:lnTo>
                  <a:pt x="4726476" y="6159548"/>
                </a:lnTo>
                <a:lnTo>
                  <a:pt x="0" y="615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770" b="-1350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69340" y="2713621"/>
            <a:ext cx="4946253" cy="548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438"/>
              </a:lnSpc>
              <a:spcBef>
                <a:spcPct val="0"/>
              </a:spcBef>
            </a:pPr>
            <a:r>
              <a:rPr lang="en-US" sz="3170" spc="-206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Una entrega más segura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830269" y="4041581"/>
            <a:ext cx="10373977" cy="215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18154" lvl="1" indent="-259077" algn="l">
              <a:lnSpc>
                <a:spcPts val="3359"/>
              </a:lnSpc>
              <a:buAutoNum type="arabicPeriod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Apoderado: Autoriza a una persona mediante su RUT.</a:t>
            </a:r>
          </a:p>
          <a:p>
            <a:pPr marL="518154" lvl="1" indent="-259077" algn="l">
              <a:lnSpc>
                <a:spcPts val="3359"/>
              </a:lnSpc>
              <a:buAutoNum type="arabicPeriod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Delegado: Crea su propia cuenta.</a:t>
            </a:r>
          </a:p>
          <a:p>
            <a:pPr marL="518154" lvl="1" indent="-259077" algn="l">
              <a:lnSpc>
                <a:spcPts val="3359"/>
              </a:lnSpc>
              <a:buAutoNum type="arabicPeriod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Validación: El sistema verifica que su RUT este autorizado.</a:t>
            </a:r>
          </a:p>
          <a:p>
            <a:pPr marL="518154" lvl="1" indent="-259077" algn="l">
              <a:lnSpc>
                <a:spcPts val="3359"/>
              </a:lnSpc>
              <a:buAutoNum type="arabicPeriod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Vinculación: Se asocia automáticamente con el estudiante autorizado.</a:t>
            </a:r>
          </a:p>
          <a:p>
            <a:pPr marL="518154" lvl="1" indent="-259077" algn="l">
              <a:lnSpc>
                <a:spcPts val="3359"/>
              </a:lnSpc>
              <a:buAutoNum type="arabicPeriod"/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Entrega: Puede recibir al estudiante y queda registro de la entrega.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71687" y="1200150"/>
            <a:ext cx="9291139" cy="6764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957"/>
              </a:lnSpc>
              <a:spcBef>
                <a:spcPct val="0"/>
              </a:spcBef>
            </a:pPr>
            <a:r>
              <a:rPr lang="en-US" sz="5570" u="none" strike="noStrike" spc="-423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Flujo del Delegado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42467" y="7162607"/>
            <a:ext cx="10373977" cy="9010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399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Un dato importante de este rol:</a:t>
            </a:r>
          </a:p>
          <a:p>
            <a:pPr marL="0" lvl="0" indent="0" algn="l">
              <a:lnSpc>
                <a:spcPts val="3359"/>
              </a:lnSpc>
            </a:pPr>
            <a:r>
              <a:rPr lang="en-US" sz="2399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El apoderado autoriza, pero el delegado crea su propia cuenta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238605" y="1782671"/>
            <a:ext cx="4620637" cy="6148933"/>
          </a:xfrm>
          <a:custGeom>
            <a:avLst/>
            <a:gdLst/>
            <a:ahLst/>
            <a:cxnLst/>
            <a:rect l="l" t="t" r="r" b="b"/>
            <a:pathLst>
              <a:path w="4620637" h="6148933">
                <a:moveTo>
                  <a:pt x="0" y="0"/>
                </a:moveTo>
                <a:lnTo>
                  <a:pt x="4620637" y="0"/>
                </a:lnTo>
                <a:lnTo>
                  <a:pt x="4620637" y="6148933"/>
                </a:lnTo>
                <a:lnTo>
                  <a:pt x="0" y="61489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731579" y="1782671"/>
            <a:ext cx="4472396" cy="6195226"/>
          </a:xfrm>
          <a:custGeom>
            <a:avLst/>
            <a:gdLst/>
            <a:ahLst/>
            <a:cxnLst/>
            <a:rect l="l" t="t" r="r" b="b"/>
            <a:pathLst>
              <a:path w="4472396" h="6195226">
                <a:moveTo>
                  <a:pt x="0" y="0"/>
                </a:moveTo>
                <a:lnTo>
                  <a:pt x="4472396" y="0"/>
                </a:lnTo>
                <a:lnTo>
                  <a:pt x="4472396" y="6195226"/>
                </a:lnTo>
                <a:lnTo>
                  <a:pt x="0" y="6195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2338186" y="1782671"/>
            <a:ext cx="4317170" cy="6233073"/>
          </a:xfrm>
          <a:custGeom>
            <a:avLst/>
            <a:gdLst/>
            <a:ahLst/>
            <a:cxnLst/>
            <a:rect l="l" t="t" r="r" b="b"/>
            <a:pathLst>
              <a:path w="4317170" h="6233073">
                <a:moveTo>
                  <a:pt x="0" y="0"/>
                </a:moveTo>
                <a:lnTo>
                  <a:pt x="4317169" y="0"/>
                </a:lnTo>
                <a:lnTo>
                  <a:pt x="4317169" y="6233073"/>
                </a:lnTo>
                <a:lnTo>
                  <a:pt x="0" y="62330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498430" y="1052978"/>
            <a:ext cx="9291139" cy="88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3"/>
              </a:lnSpc>
              <a:spcBef>
                <a:spcPct val="0"/>
              </a:spcBef>
            </a:pPr>
            <a:r>
              <a:rPr lang="en-US" sz="7194" spc="-546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Seguridad y Trazabilidad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5801094" y="2393517"/>
            <a:ext cx="6227782" cy="449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273"/>
              </a:lnSpc>
            </a:pPr>
            <a:r>
              <a:rPr lang="en-US" sz="3678" spc="-242" dirty="0" err="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Cada</a:t>
            </a:r>
            <a:r>
              <a:rPr lang="en-US" sz="3678" spc="-242" dirty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  <a:r>
              <a:rPr lang="en-US" sz="3678" spc="-242" dirty="0" err="1" smtClean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etapa</a:t>
            </a:r>
            <a:r>
              <a:rPr lang="en-US" sz="3678" spc="-242" dirty="0" smtClean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  <a:r>
              <a:rPr lang="en-US" sz="3678" spc="-242" dirty="0" err="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queda</a:t>
            </a:r>
            <a:r>
              <a:rPr lang="en-US" sz="3678" spc="-242" dirty="0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 </a:t>
            </a:r>
            <a:r>
              <a:rPr lang="en-US" sz="3678" spc="-242" dirty="0" err="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registrada</a:t>
            </a:r>
            <a:endParaRPr lang="en-US" sz="3678" spc="-242" dirty="0">
              <a:solidFill>
                <a:srgbClr val="25282A"/>
              </a:solidFill>
              <a:latin typeface="Fraunces"/>
              <a:ea typeface="Fraunces"/>
              <a:cs typeface="Fraunces"/>
              <a:sym typeface="Fraunces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439752" y="3090772"/>
            <a:ext cx="10096899" cy="59291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42"/>
              </a:lnSpc>
            </a:pPr>
            <a:r>
              <a:rPr lang="en-US" sz="23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Autenticación y roles 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Cada usuario accede según sus permisos.</a:t>
            </a:r>
          </a:p>
          <a:p>
            <a:pPr algn="l">
              <a:lnSpc>
                <a:spcPts val="3142"/>
              </a:lnSpc>
            </a:pPr>
            <a:endParaRPr lang="en-US" sz="2398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l">
              <a:lnSpc>
                <a:spcPts val="3142"/>
              </a:lnSpc>
            </a:pPr>
            <a:r>
              <a:rPr lang="en-US" sz="23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Identificación QR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Permite registrar el abordaje  del estudiante.</a:t>
            </a:r>
          </a:p>
          <a:p>
            <a:pPr algn="l">
              <a:lnSpc>
                <a:spcPts val="3142"/>
              </a:lnSpc>
            </a:pPr>
            <a:endParaRPr lang="en-US" sz="2398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l">
              <a:lnSpc>
                <a:spcPts val="3142"/>
              </a:lnSpc>
            </a:pPr>
            <a:r>
              <a:rPr lang="en-US" sz="23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Notificaciones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Informan sobre eventos importantes durante el recorrido.</a:t>
            </a:r>
          </a:p>
          <a:p>
            <a:pPr algn="l">
              <a:lnSpc>
                <a:spcPts val="3142"/>
              </a:lnSpc>
            </a:pPr>
            <a:endParaRPr lang="en-US" sz="2398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l">
              <a:lnSpc>
                <a:spcPts val="3142"/>
              </a:lnSpc>
            </a:pPr>
            <a:r>
              <a:rPr lang="en-US" sz="23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Delegados autorizados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La entrega se realiza únicamente a personas previamente autorizadas.</a:t>
            </a:r>
          </a:p>
          <a:p>
            <a:pPr algn="l">
              <a:lnSpc>
                <a:spcPts val="3142"/>
              </a:lnSpc>
            </a:pPr>
            <a:endParaRPr lang="en-US" sz="2398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algn="l">
              <a:lnSpc>
                <a:spcPts val="3142"/>
              </a:lnSpc>
            </a:pPr>
            <a:r>
              <a:rPr lang="en-US" sz="2398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Trazabilidad</a:t>
            </a:r>
          </a:p>
          <a:p>
            <a:pPr algn="l">
              <a:lnSpc>
                <a:spcPts val="3142"/>
              </a:lnSpc>
            </a:pPr>
            <a:r>
              <a:rPr lang="en-US" sz="2398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Los eventos del recorrido quedan registrados en el sistema.</a:t>
            </a:r>
          </a:p>
          <a:p>
            <a:pPr marL="0" lvl="0" indent="0" algn="l">
              <a:lnSpc>
                <a:spcPts val="3142"/>
              </a:lnSpc>
            </a:pPr>
            <a:endParaRPr lang="en-US" sz="2398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54739" y="3074339"/>
            <a:ext cx="7525159" cy="5650890"/>
            <a:chOff x="0" y="0"/>
            <a:chExt cx="1981935" cy="1488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81935" cy="1488300"/>
            </a:xfrm>
            <a:custGeom>
              <a:avLst/>
              <a:gdLst/>
              <a:ahLst/>
              <a:cxnLst/>
              <a:rect l="l" t="t" r="r" b="b"/>
              <a:pathLst>
                <a:path w="1981935" h="1488300">
                  <a:moveTo>
                    <a:pt x="21605" y="0"/>
                  </a:moveTo>
                  <a:lnTo>
                    <a:pt x="1960330" y="0"/>
                  </a:lnTo>
                  <a:cubicBezTo>
                    <a:pt x="1966060" y="0"/>
                    <a:pt x="1971555" y="2276"/>
                    <a:pt x="1975607" y="6328"/>
                  </a:cubicBezTo>
                  <a:cubicBezTo>
                    <a:pt x="1979659" y="10380"/>
                    <a:pt x="1981935" y="15875"/>
                    <a:pt x="1981935" y="21605"/>
                  </a:cubicBezTo>
                  <a:lnTo>
                    <a:pt x="1981935" y="1466695"/>
                  </a:lnTo>
                  <a:cubicBezTo>
                    <a:pt x="1981935" y="1472425"/>
                    <a:pt x="1979659" y="1477921"/>
                    <a:pt x="1975607" y="1481972"/>
                  </a:cubicBezTo>
                  <a:cubicBezTo>
                    <a:pt x="1971555" y="1486024"/>
                    <a:pt x="1966060" y="1488300"/>
                    <a:pt x="1960330" y="1488300"/>
                  </a:cubicBezTo>
                  <a:lnTo>
                    <a:pt x="21605" y="1488300"/>
                  </a:lnTo>
                  <a:cubicBezTo>
                    <a:pt x="15875" y="1488300"/>
                    <a:pt x="10380" y="1486024"/>
                    <a:pt x="6328" y="1481972"/>
                  </a:cubicBezTo>
                  <a:cubicBezTo>
                    <a:pt x="2276" y="1477921"/>
                    <a:pt x="0" y="1472425"/>
                    <a:pt x="0" y="1466695"/>
                  </a:cubicBezTo>
                  <a:lnTo>
                    <a:pt x="0" y="21605"/>
                  </a:lnTo>
                  <a:cubicBezTo>
                    <a:pt x="0" y="15875"/>
                    <a:pt x="2276" y="10380"/>
                    <a:pt x="6328" y="6328"/>
                  </a:cubicBezTo>
                  <a:cubicBezTo>
                    <a:pt x="10380" y="2276"/>
                    <a:pt x="15875" y="0"/>
                    <a:pt x="21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981935" cy="157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9335091" y="3074339"/>
            <a:ext cx="7525159" cy="5650890"/>
            <a:chOff x="0" y="0"/>
            <a:chExt cx="1981935" cy="14883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1935" cy="1488300"/>
            </a:xfrm>
            <a:custGeom>
              <a:avLst/>
              <a:gdLst/>
              <a:ahLst/>
              <a:cxnLst/>
              <a:rect l="l" t="t" r="r" b="b"/>
              <a:pathLst>
                <a:path w="1981935" h="1488300">
                  <a:moveTo>
                    <a:pt x="21605" y="0"/>
                  </a:moveTo>
                  <a:lnTo>
                    <a:pt x="1960330" y="0"/>
                  </a:lnTo>
                  <a:cubicBezTo>
                    <a:pt x="1966060" y="0"/>
                    <a:pt x="1971555" y="2276"/>
                    <a:pt x="1975607" y="6328"/>
                  </a:cubicBezTo>
                  <a:cubicBezTo>
                    <a:pt x="1979659" y="10380"/>
                    <a:pt x="1981935" y="15875"/>
                    <a:pt x="1981935" y="21605"/>
                  </a:cubicBezTo>
                  <a:lnTo>
                    <a:pt x="1981935" y="1466695"/>
                  </a:lnTo>
                  <a:cubicBezTo>
                    <a:pt x="1981935" y="1472425"/>
                    <a:pt x="1979659" y="1477921"/>
                    <a:pt x="1975607" y="1481972"/>
                  </a:cubicBezTo>
                  <a:cubicBezTo>
                    <a:pt x="1971555" y="1486024"/>
                    <a:pt x="1966060" y="1488300"/>
                    <a:pt x="1960330" y="1488300"/>
                  </a:cubicBezTo>
                  <a:lnTo>
                    <a:pt x="21605" y="1488300"/>
                  </a:lnTo>
                  <a:cubicBezTo>
                    <a:pt x="15875" y="1488300"/>
                    <a:pt x="10380" y="1486024"/>
                    <a:pt x="6328" y="1481972"/>
                  </a:cubicBezTo>
                  <a:cubicBezTo>
                    <a:pt x="2276" y="1477921"/>
                    <a:pt x="0" y="1472425"/>
                    <a:pt x="0" y="1466695"/>
                  </a:cubicBezTo>
                  <a:lnTo>
                    <a:pt x="0" y="21605"/>
                  </a:lnTo>
                  <a:cubicBezTo>
                    <a:pt x="0" y="15875"/>
                    <a:pt x="2276" y="10380"/>
                    <a:pt x="6328" y="6328"/>
                  </a:cubicBezTo>
                  <a:cubicBezTo>
                    <a:pt x="10380" y="2276"/>
                    <a:pt x="15875" y="0"/>
                    <a:pt x="2160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85725"/>
              <a:ext cx="1981935" cy="157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140330" y="3672753"/>
            <a:ext cx="7639569" cy="4313907"/>
          </a:xfrm>
          <a:custGeom>
            <a:avLst/>
            <a:gdLst/>
            <a:ahLst/>
            <a:cxnLst/>
            <a:rect l="l" t="t" r="r" b="b"/>
            <a:pathLst>
              <a:path w="7639569" h="4313907">
                <a:moveTo>
                  <a:pt x="0" y="0"/>
                </a:moveTo>
                <a:lnTo>
                  <a:pt x="7639569" y="0"/>
                </a:lnTo>
                <a:lnTo>
                  <a:pt x="7639569" y="4313908"/>
                </a:lnTo>
                <a:lnTo>
                  <a:pt x="0" y="431390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272711" y="1050724"/>
            <a:ext cx="10510854" cy="883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03"/>
              </a:lnSpc>
              <a:spcBef>
                <a:spcPct val="0"/>
              </a:spcBef>
            </a:pPr>
            <a:r>
              <a:rPr lang="en-US" sz="7194" spc="-417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Arquitectura y Tecnologías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50281" y="3387123"/>
            <a:ext cx="3014932" cy="28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0"/>
              </a:lnSpc>
              <a:spcBef>
                <a:spcPct val="0"/>
              </a:spcBef>
            </a:pPr>
            <a:r>
              <a:rPr lang="en-US" sz="2416" spc="-103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Arquitectura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09087" y="3387123"/>
            <a:ext cx="3014932" cy="285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150"/>
              </a:lnSpc>
              <a:spcBef>
                <a:spcPct val="0"/>
              </a:spcBef>
            </a:pPr>
            <a:r>
              <a:rPr lang="en-US" sz="2416" spc="-103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Teconologías usadas: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528138" y="4059043"/>
            <a:ext cx="6810246" cy="23707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062"/>
              </a:lnSpc>
            </a:pPr>
            <a:r>
              <a:rPr lang="en-US" sz="2187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Mobile</a:t>
            </a:r>
            <a:r>
              <a:rPr lang="en-US" sz="2187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Ionic · Angular · TypeScript · Capacitor</a:t>
            </a:r>
          </a:p>
          <a:p>
            <a:pPr marL="0" lvl="0" indent="0" algn="l">
              <a:lnSpc>
                <a:spcPts val="3062"/>
              </a:lnSpc>
            </a:pPr>
            <a:r>
              <a:rPr lang="en-US" sz="2187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Web</a:t>
            </a:r>
            <a:r>
              <a:rPr lang="en-US" sz="2187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: Angular · TypeScript</a:t>
            </a:r>
          </a:p>
          <a:p>
            <a:pPr marL="0" lvl="0" indent="0" algn="l">
              <a:lnSpc>
                <a:spcPts val="3062"/>
              </a:lnSpc>
            </a:pPr>
            <a:r>
              <a:rPr lang="en-US" sz="2187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Backend:</a:t>
            </a:r>
            <a:r>
              <a:rPr lang="en-US" sz="2187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Python · Django · Django REST Framework</a:t>
            </a:r>
          </a:p>
          <a:p>
            <a:pPr marL="0" lvl="0" indent="0" algn="l">
              <a:lnSpc>
                <a:spcPts val="3062"/>
              </a:lnSpc>
            </a:pPr>
            <a:r>
              <a:rPr lang="en-US" sz="2187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BD: </a:t>
            </a:r>
            <a:r>
              <a:rPr lang="en-US" sz="2187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SQLite</a:t>
            </a:r>
          </a:p>
          <a:p>
            <a:pPr marL="0" lvl="0" indent="0" algn="l">
              <a:lnSpc>
                <a:spcPts val="3062"/>
              </a:lnSpc>
            </a:pPr>
            <a:r>
              <a:rPr lang="en-US" sz="2187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Control de versiones:</a:t>
            </a:r>
            <a:r>
              <a:rPr lang="en-US" sz="2187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Git · GitHub</a:t>
            </a:r>
          </a:p>
          <a:p>
            <a:pPr marL="0" lvl="0" indent="0" algn="l">
              <a:lnSpc>
                <a:spcPts val="3342"/>
              </a:lnSpc>
            </a:pPr>
            <a:endParaRPr lang="en-US" sz="2187" b="1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8010" y="3074339"/>
            <a:ext cx="15422241" cy="5650890"/>
            <a:chOff x="0" y="0"/>
            <a:chExt cx="4061825" cy="14883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1825" cy="1488300"/>
            </a:xfrm>
            <a:custGeom>
              <a:avLst/>
              <a:gdLst/>
              <a:ahLst/>
              <a:cxnLst/>
              <a:rect l="l" t="t" r="r" b="b"/>
              <a:pathLst>
                <a:path w="4061825" h="1488300">
                  <a:moveTo>
                    <a:pt x="10542" y="0"/>
                  </a:moveTo>
                  <a:lnTo>
                    <a:pt x="4051283" y="0"/>
                  </a:lnTo>
                  <a:cubicBezTo>
                    <a:pt x="4057105" y="0"/>
                    <a:pt x="4061825" y="4720"/>
                    <a:pt x="4061825" y="10542"/>
                  </a:cubicBezTo>
                  <a:lnTo>
                    <a:pt x="4061825" y="1477758"/>
                  </a:lnTo>
                  <a:cubicBezTo>
                    <a:pt x="4061825" y="1483580"/>
                    <a:pt x="4057105" y="1488300"/>
                    <a:pt x="4051283" y="1488300"/>
                  </a:cubicBezTo>
                  <a:lnTo>
                    <a:pt x="10542" y="1488300"/>
                  </a:lnTo>
                  <a:cubicBezTo>
                    <a:pt x="4720" y="1488300"/>
                    <a:pt x="0" y="1483580"/>
                    <a:pt x="0" y="1477758"/>
                  </a:cubicBezTo>
                  <a:lnTo>
                    <a:pt x="0" y="10542"/>
                  </a:lnTo>
                  <a:cubicBezTo>
                    <a:pt x="0" y="4720"/>
                    <a:pt x="4720" y="0"/>
                    <a:pt x="10542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4061825" cy="157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921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552560" y="698793"/>
            <a:ext cx="9786439" cy="8693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302"/>
              </a:lnSpc>
              <a:spcBef>
                <a:spcPct val="0"/>
              </a:spcBef>
            </a:pPr>
            <a:r>
              <a:rPr lang="en-US" sz="7081" spc="-410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Metodología y Desarrollo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38010" y="2175282"/>
            <a:ext cx="4310332" cy="377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723"/>
              </a:lnSpc>
              <a:spcBef>
                <a:spcPct val="0"/>
              </a:spcBef>
            </a:pPr>
            <a:r>
              <a:rPr lang="en-US" sz="3060" spc="-131">
                <a:solidFill>
                  <a:srgbClr val="25282A"/>
                </a:solidFill>
                <a:latin typeface="Fraunces"/>
                <a:ea typeface="Fraunces"/>
                <a:cs typeface="Fraunces"/>
                <a:sym typeface="Fraunces"/>
              </a:rPr>
              <a:t>Trabajamos con Scrum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55941" y="3145670"/>
            <a:ext cx="11579677" cy="53939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Product Backlog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Definición y priorización de funcionalidades.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Sprints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Desarrollo dividido en ciclos de trabajo.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Sprint Backlog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Tareas seleccionadas para cada Sprint.</a:t>
            </a:r>
          </a:p>
          <a:p>
            <a:pPr marL="0" lvl="0" indent="0" algn="l">
              <a:lnSpc>
                <a:spcPts val="3496"/>
              </a:lnSpc>
            </a:pPr>
            <a:r>
              <a:rPr lang="en-US" sz="2497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Weekly Meeting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Seguimiento del avance e impedimentos.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Sprint Review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Revisión de funcionalidades desarrolladas.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 Bold"/>
                <a:ea typeface="Cooper Hewitt Bold"/>
                <a:cs typeface="Cooper Hewitt Bold"/>
                <a:sym typeface="Cooper Hewitt Bold"/>
              </a:rPr>
              <a:t>Retrospective</a:t>
            </a:r>
          </a:p>
          <a:p>
            <a:pPr marL="0" lvl="0" indent="0" algn="l">
              <a:lnSpc>
                <a:spcPts val="3270"/>
              </a:lnSpc>
            </a:pPr>
            <a:r>
              <a:rPr lang="en-US" sz="2335" b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Evaluación y mejora del proceso.</a:t>
            </a:r>
          </a:p>
          <a:p>
            <a:pPr marL="0" lvl="0" indent="0" algn="l">
              <a:lnSpc>
                <a:spcPts val="3270"/>
              </a:lnSpc>
            </a:pPr>
            <a:endParaRPr lang="en-US" sz="2335" b="1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662687" y="1682272"/>
            <a:ext cx="7631180" cy="71548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Registro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e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inicio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3530" b="1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sesión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Gestión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roles y </a:t>
            </a:r>
            <a:r>
              <a:rPr lang="en-US" sz="3530" b="1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permisos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Registro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3530" b="1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estudiantes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Administración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conductors.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Gestión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de </a:t>
            </a:r>
            <a:r>
              <a:rPr lang="en-US" sz="3530" b="1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rutas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Seguimiento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básico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Notificaciones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err="1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básicas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Identificación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por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código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QR.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  <a:p>
            <a:pPr marL="762319" lvl="1" indent="-381159" algn="l">
              <a:lnSpc>
                <a:spcPts val="6249"/>
              </a:lnSpc>
              <a:buAutoNum type="arabicPeriod"/>
            </a:pP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-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Geolocalización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en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err="1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tiempo</a:t>
            </a:r>
            <a:r>
              <a:rPr lang="en-US" sz="3530" b="1" dirty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 </a:t>
            </a:r>
            <a:r>
              <a:rPr lang="en-US" sz="3530" b="1" dirty="0" smtClean="0">
                <a:solidFill>
                  <a:srgbClr val="25282A"/>
                </a:solidFill>
                <a:latin typeface="Cooper Hewitt"/>
                <a:ea typeface="Cooper Hewitt"/>
                <a:cs typeface="Cooper Hewitt"/>
                <a:sym typeface="Cooper Hewitt"/>
              </a:rPr>
              <a:t>real.</a:t>
            </a:r>
            <a:endParaRPr lang="en-US" sz="3530" b="1" dirty="0">
              <a:solidFill>
                <a:srgbClr val="25282A"/>
              </a:solidFill>
              <a:latin typeface="Cooper Hewitt"/>
              <a:ea typeface="Cooper Hewitt"/>
              <a:cs typeface="Cooper Hewitt"/>
              <a:sym typeface="Cooper Hewit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2265173" y="3879367"/>
            <a:ext cx="4440427" cy="25892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9810"/>
              </a:lnSpc>
              <a:spcBef>
                <a:spcPct val="0"/>
              </a:spcBef>
            </a:pPr>
            <a:r>
              <a:rPr lang="en-US" sz="11023" u="none" strike="noStrike" spc="-870">
                <a:solidFill>
                  <a:srgbClr val="A98D6D"/>
                </a:solidFill>
                <a:latin typeface="Fraunces"/>
                <a:ea typeface="Fraunces"/>
                <a:cs typeface="Fraunces"/>
                <a:sym typeface="Fraunces"/>
              </a:rPr>
              <a:t>Estado Actual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704</Words>
  <Application>Microsoft Office PowerPoint</Application>
  <PresentationFormat>Personalizado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0" baseType="lpstr">
      <vt:lpstr>Cooper Hewitt Bold</vt:lpstr>
      <vt:lpstr>Calibri</vt:lpstr>
      <vt:lpstr>Cooper Hewitt</vt:lpstr>
      <vt:lpstr>Fraunces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PPTRutasSeguras</dc:title>
  <cp:lastModifiedBy>Chris Bugman</cp:lastModifiedBy>
  <cp:revision>2</cp:revision>
  <dcterms:created xsi:type="dcterms:W3CDTF">2006-08-16T00:00:00Z</dcterms:created>
  <dcterms:modified xsi:type="dcterms:W3CDTF">2026-09-14T12:25:25Z</dcterms:modified>
  <dc:identifier>DAHU0GabhIE</dc:identifier>
</cp:coreProperties>
</file>