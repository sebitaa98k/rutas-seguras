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Fraunces" charset="1" panose="00000000000000000000"/>
      <p:regular r:id="rId20"/>
    </p:embeddedFont>
    <p:embeddedFont>
      <p:font typeface="Cooper Hewitt" charset="1" panose="00000000000000000000"/>
      <p:regular r:id="rId21"/>
    </p:embeddedFont>
    <p:embeddedFont>
      <p:font typeface="Cooper Hewitt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32305" y="1015101"/>
            <a:ext cx="726252" cy="720805"/>
          </a:xfrm>
          <a:custGeom>
            <a:avLst/>
            <a:gdLst/>
            <a:ahLst/>
            <a:cxnLst/>
            <a:rect r="r" b="b" t="t" l="l"/>
            <a:pathLst>
              <a:path h="720805" w="726252">
                <a:moveTo>
                  <a:pt x="0" y="0"/>
                </a:moveTo>
                <a:lnTo>
                  <a:pt x="726252" y="0"/>
                </a:lnTo>
                <a:lnTo>
                  <a:pt x="726252" y="720805"/>
                </a:lnTo>
                <a:lnTo>
                  <a:pt x="0" y="7208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68540" y="3010754"/>
            <a:ext cx="7446548" cy="94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7"/>
              </a:lnSpc>
            </a:pPr>
            <a:r>
              <a:rPr lang="en-US" sz="4041" spc="-169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PLATAFORMA INTEGRAL PARA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342" y="4308679"/>
            <a:ext cx="14749315" cy="2212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121"/>
              </a:lnSpc>
            </a:pPr>
            <a:r>
              <a:rPr lang="en-US" sz="18114" spc="-1394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Rutas Seguras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48668" y="7895242"/>
            <a:ext cx="6086294" cy="38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26"/>
              </a:lnSpc>
              <a:spcBef>
                <a:spcPct val="0"/>
              </a:spcBef>
            </a:pPr>
            <a:r>
              <a:rPr lang="en-US" sz="3175" spc="-209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Transporte Escolar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01557" y="7331611"/>
            <a:ext cx="3199671" cy="130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9"/>
              </a:lnSpc>
            </a:pPr>
            <a:r>
              <a:rPr lang="en-US" sz="2437" spc="-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Constanza Reyes</a:t>
            </a:r>
          </a:p>
          <a:p>
            <a:pPr algn="l">
              <a:lnSpc>
                <a:spcPts val="3339"/>
              </a:lnSpc>
            </a:pPr>
            <a:r>
              <a:rPr lang="en-US" sz="2437" spc="-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Chris Bugman</a:t>
            </a:r>
          </a:p>
          <a:p>
            <a:pPr algn="l" marL="0" indent="0" lvl="0">
              <a:lnSpc>
                <a:spcPts val="3339"/>
              </a:lnSpc>
            </a:pPr>
            <a:r>
              <a:rPr lang="en-US" sz="2437" spc="-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Sebastian Delso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85636" y="1840590"/>
            <a:ext cx="2812357" cy="36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70"/>
              </a:lnSpc>
            </a:pPr>
            <a:r>
              <a:rPr lang="en-US" b="true" sz="1976" spc="-7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Rutas Seguras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81696" y="1216678"/>
            <a:ext cx="420236" cy="33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1"/>
              </a:lnSpc>
            </a:pPr>
            <a:r>
              <a:rPr lang="en-US" b="true" sz="1833" spc="-7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13094" y="7567476"/>
            <a:ext cx="3053378" cy="471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39"/>
              </a:lnSpc>
            </a:pPr>
            <a:r>
              <a:rPr lang="en-US" sz="2437" spc="-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Juan Gana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98194" y="1257915"/>
            <a:ext cx="7013640" cy="7771170"/>
            <a:chOff x="0" y="0"/>
            <a:chExt cx="9351520" cy="1036156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347" r="0" b="347"/>
            <a:stretch>
              <a:fillRect/>
            </a:stretch>
          </p:blipFill>
          <p:spPr>
            <a:xfrm flipH="false" flipV="false">
              <a:off x="0" y="0"/>
              <a:ext cx="9351520" cy="1036156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409272" y="920920"/>
            <a:ext cx="7734728" cy="8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8"/>
              </a:lnSpc>
              <a:spcBef>
                <a:spcPct val="0"/>
              </a:spcBef>
            </a:pPr>
            <a:r>
              <a:rPr lang="en-US" sz="7200" spc="-417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El Problema Actual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8601" y="2559685"/>
            <a:ext cx="7734728" cy="552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</a:pPr>
            <a:r>
              <a:rPr lang="en-US" sz="27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transporte escolar presenta un</a:t>
            </a:r>
            <a:r>
              <a:rPr lang="en-US" b="true" sz="27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 falta de visibilidad y control durante el traslado de los estudiantes.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apoderado no sabe dónde está el furgón.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No tiene confirmación inmediata del abordaje o entrega.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conductor necesita herramientas para gestionar su recorrido.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colegio carece de una visión centralizada del proceso.</a:t>
            </a:r>
          </a:p>
          <a:p>
            <a:pPr algn="l" marL="0" indent="0" lvl="0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11008" y="7974965"/>
            <a:ext cx="5609915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problema central es la falta de información en tiempo real y trazabilidad del traslado escolar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487114" cy="10429729"/>
            <a:chOff x="0" y="0"/>
            <a:chExt cx="2498664" cy="2746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8664" cy="2746925"/>
            </a:xfrm>
            <a:custGeom>
              <a:avLst/>
              <a:gdLst/>
              <a:ahLst/>
              <a:cxnLst/>
              <a:rect r="r" b="b" t="t" l="l"/>
              <a:pathLst>
                <a:path h="2746925" w="2498664">
                  <a:moveTo>
                    <a:pt x="0" y="0"/>
                  </a:moveTo>
                  <a:lnTo>
                    <a:pt x="2498664" y="0"/>
                  </a:lnTo>
                  <a:lnTo>
                    <a:pt x="2498664" y="2746925"/>
                  </a:lnTo>
                  <a:lnTo>
                    <a:pt x="0" y="2746925"/>
                  </a:lnTo>
                  <a:close/>
                </a:path>
              </a:pathLst>
            </a:custGeom>
            <a:solidFill>
              <a:srgbClr val="E8DAC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498664" cy="283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56307" y="380296"/>
            <a:ext cx="8467917" cy="9526407"/>
            <a:chOff x="0" y="0"/>
            <a:chExt cx="11290557" cy="12701876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410" t="0" r="410" b="0"/>
            <a:stretch>
              <a:fillRect/>
            </a:stretch>
          </p:blipFill>
          <p:spPr>
            <a:xfrm flipH="false" flipV="false">
              <a:off x="0" y="0"/>
              <a:ext cx="11290557" cy="12701876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1550281" y="1190625"/>
            <a:ext cx="6062640" cy="63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92"/>
              </a:lnSpc>
              <a:spcBef>
                <a:spcPct val="0"/>
              </a:spcBef>
            </a:pPr>
            <a:r>
              <a:rPr lang="en-US" sz="5272" spc="-305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Nuestra Solución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0281" y="2253493"/>
            <a:ext cx="6062640" cy="18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b="true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Rutas Seguras</a:t>
            </a:r>
          </a:p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Una plataforma que conecta a todos los actores del transporte escolar en un solo sistema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0281" y="4704637"/>
            <a:ext cx="2034545" cy="18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b="true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App Móvil</a:t>
            </a:r>
          </a:p>
          <a:p>
            <a:pPr algn="l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Apoderados</a:t>
            </a:r>
          </a:p>
          <a:p>
            <a:pPr algn="l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Conductores</a:t>
            </a:r>
          </a:p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Delegados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0201" y="4485562"/>
            <a:ext cx="3567626" cy="92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b="true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Panel Web</a:t>
            </a:r>
          </a:p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Administración y gestión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80201" y="5549210"/>
            <a:ext cx="3289932" cy="13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b="true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Backend</a:t>
            </a:r>
          </a:p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Centraliza y conecta toda la información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09606" y="7893005"/>
            <a:ext cx="5341190" cy="13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Propuesta de valor: </a:t>
            </a: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Mayor seguridad, comunicación y control durante todo el recorrido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3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88701"/>
            <a:ext cx="4760856" cy="57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7"/>
              </a:lnSpc>
            </a:pPr>
            <a:r>
              <a:rPr lang="en-US" b="true" sz="2898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Objetivo general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58740" y="3247052"/>
            <a:ext cx="9570521" cy="92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Mejorar la seguridad y gestión del transporte escolar a traves de una plataforma integrada con información y comunicación en tiempo real.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58740" y="581047"/>
            <a:ext cx="9570521" cy="952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95"/>
              </a:lnSpc>
              <a:spcBef>
                <a:spcPct val="0"/>
              </a:spcBef>
            </a:pPr>
            <a:r>
              <a:rPr lang="en-US" sz="6662" spc="-313" strike="noStrike" u="none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Objetivo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9123" y="5047805"/>
            <a:ext cx="4760856" cy="57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7"/>
              </a:lnSpc>
            </a:pPr>
            <a:r>
              <a:rPr lang="en-US" b="true" sz="2898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Objetivos específicos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58740" y="5887740"/>
            <a:ext cx="9570521" cy="180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411" indent="-269706" lvl="1">
              <a:lnSpc>
                <a:spcPts val="3497"/>
              </a:lnSpc>
              <a:buFont typeface="Arial"/>
              <a:buChar char="•"/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Seguridad: Identificación biometrica y registro de eventos.</a:t>
            </a:r>
          </a:p>
          <a:p>
            <a:pPr algn="l" marL="539411" indent="-269706" lvl="1">
              <a:lnSpc>
                <a:spcPts val="3497"/>
              </a:lnSpc>
              <a:buFont typeface="Arial"/>
              <a:buChar char="•"/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Organización: Gestion de conductores, furgones y rutas.</a:t>
            </a:r>
          </a:p>
          <a:p>
            <a:pPr algn="l" marL="539411" indent="-269706" lvl="1">
              <a:lnSpc>
                <a:spcPts val="3497"/>
              </a:lnSpc>
              <a:buFont typeface="Arial"/>
              <a:buChar char="•"/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Comunicación: Notificaciones entre los actores del sistema.</a:t>
            </a:r>
          </a:p>
          <a:p>
            <a:pPr algn="l" marL="539411" indent="-269706" lvl="1">
              <a:lnSpc>
                <a:spcPts val="3497"/>
              </a:lnSpc>
              <a:buFont typeface="Arial"/>
              <a:buChar char="•"/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Control: Información centralizada y trazabilidad del traslado.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326216"/>
            <a:ext cx="1577336" cy="1577336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98D6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60397" y="7728353"/>
            <a:ext cx="887395" cy="847059"/>
          </a:xfrm>
          <a:custGeom>
            <a:avLst/>
            <a:gdLst/>
            <a:ahLst/>
            <a:cxnLst/>
            <a:rect r="r" b="b" t="t" l="l"/>
            <a:pathLst>
              <a:path h="847059" w="887395">
                <a:moveTo>
                  <a:pt x="0" y="0"/>
                </a:moveTo>
                <a:lnTo>
                  <a:pt x="887395" y="0"/>
                </a:lnTo>
                <a:lnTo>
                  <a:pt x="887395" y="847059"/>
                </a:lnTo>
                <a:lnTo>
                  <a:pt x="0" y="847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4791296"/>
            <a:ext cx="1577336" cy="1577336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98D6D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397202" y="5131001"/>
            <a:ext cx="847868" cy="872093"/>
          </a:xfrm>
          <a:custGeom>
            <a:avLst/>
            <a:gdLst/>
            <a:ahLst/>
            <a:cxnLst/>
            <a:rect r="r" b="b" t="t" l="l"/>
            <a:pathLst>
              <a:path h="872093" w="847868">
                <a:moveTo>
                  <a:pt x="0" y="0"/>
                </a:moveTo>
                <a:lnTo>
                  <a:pt x="847868" y="0"/>
                </a:lnTo>
                <a:lnTo>
                  <a:pt x="847868" y="872093"/>
                </a:lnTo>
                <a:lnTo>
                  <a:pt x="0" y="872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028700" y="2425292"/>
            <a:ext cx="1577336" cy="1577336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98D6D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59400" y="2864938"/>
            <a:ext cx="924564" cy="840758"/>
          </a:xfrm>
          <a:custGeom>
            <a:avLst/>
            <a:gdLst/>
            <a:ahLst/>
            <a:cxnLst/>
            <a:rect r="r" b="b" t="t" l="l"/>
            <a:pathLst>
              <a:path h="840758" w="924564">
                <a:moveTo>
                  <a:pt x="0" y="0"/>
                </a:moveTo>
                <a:lnTo>
                  <a:pt x="924564" y="0"/>
                </a:lnTo>
                <a:lnTo>
                  <a:pt x="924564" y="840759"/>
                </a:lnTo>
                <a:lnTo>
                  <a:pt x="0" y="8407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15810" y="2353772"/>
            <a:ext cx="4279949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399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Administrador</a:t>
            </a:r>
          </a:p>
          <a:p>
            <a:pPr algn="ctr" marL="0" indent="0" lvl="0">
              <a:lnSpc>
                <a:spcPts val="3359"/>
              </a:lnSpc>
            </a:pPr>
            <a:r>
              <a:rPr lang="en-US" b="true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Gestiona rutas, conductores, apoderados, furgones y permisos.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15810" y="4898291"/>
            <a:ext cx="4279949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399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Apoderado y Delegado</a:t>
            </a:r>
          </a:p>
          <a:p>
            <a:pPr algn="ctr" marL="0" indent="0" lvl="0">
              <a:lnSpc>
                <a:spcPts val="3359"/>
              </a:lnSpc>
            </a:pPr>
            <a:r>
              <a:rPr lang="en-US" b="true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Administra a sus hijos, consulta el seguimiento y autoriza delegados.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15810" y="7202391"/>
            <a:ext cx="4279949" cy="132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399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Conductor </a:t>
            </a:r>
          </a:p>
          <a:p>
            <a:pPr algn="ctr" marL="0" indent="0" lvl="0">
              <a:lnSpc>
                <a:spcPts val="3359"/>
              </a:lnSpc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G</a:t>
            </a:r>
            <a:r>
              <a:rPr lang="en-US" b="true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estiona su ruta, registra abordajes y reporta incidencias.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49402"/>
            <a:ext cx="16160709" cy="102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92"/>
              </a:lnSpc>
            </a:pPr>
            <a:r>
              <a:rPr lang="en-US" sz="7200" spc="-187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Usuarios del Sistema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72223" y="1460373"/>
            <a:ext cx="9570521" cy="48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¿Quiénes utilizan Rutas Seguras?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57531" y="3566164"/>
            <a:ext cx="6325188" cy="1577336"/>
            <a:chOff x="0" y="0"/>
            <a:chExt cx="8433584" cy="210311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103115" cy="2103115"/>
              <a:chOff x="0" y="0"/>
              <a:chExt cx="6350000" cy="635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A98D6D"/>
              </a:solidFill>
            </p:spPr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62409" y="0"/>
              <a:ext cx="1378147" cy="2103115"/>
            </a:xfrm>
            <a:custGeom>
              <a:avLst/>
              <a:gdLst/>
              <a:ahLst/>
              <a:cxnLst/>
              <a:rect r="r" b="b" t="t" l="l"/>
              <a:pathLst>
                <a:path h="2103115" w="1378147">
                  <a:moveTo>
                    <a:pt x="0" y="0"/>
                  </a:moveTo>
                  <a:lnTo>
                    <a:pt x="1378147" y="0"/>
                  </a:lnTo>
                  <a:lnTo>
                    <a:pt x="1378147" y="2103115"/>
                  </a:lnTo>
                  <a:lnTo>
                    <a:pt x="0" y="2103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507" r="0" b="-850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726985" y="150366"/>
              <a:ext cx="5706599" cy="171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25282A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Estudiante</a:t>
              </a:r>
            </a:p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25282A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Beneficiario principal del sistema de transporte.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57531" y="6368632"/>
            <a:ext cx="6325188" cy="1577336"/>
            <a:chOff x="0" y="0"/>
            <a:chExt cx="8433584" cy="210311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2103115" cy="2103115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A98D6D"/>
              </a:solidFill>
            </p:spPr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270268" y="651807"/>
              <a:ext cx="1562430" cy="624972"/>
            </a:xfrm>
            <a:custGeom>
              <a:avLst/>
              <a:gdLst/>
              <a:ahLst/>
              <a:cxnLst/>
              <a:rect r="r" b="b" t="t" l="l"/>
              <a:pathLst>
                <a:path h="624972" w="1562430">
                  <a:moveTo>
                    <a:pt x="0" y="0"/>
                  </a:moveTo>
                  <a:lnTo>
                    <a:pt x="1562429" y="0"/>
                  </a:lnTo>
                  <a:lnTo>
                    <a:pt x="1562429" y="624972"/>
                  </a:lnTo>
                  <a:lnTo>
                    <a:pt x="0" y="624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726985" y="96671"/>
              <a:ext cx="5706599" cy="171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b="true" sz="2399">
                  <a:solidFill>
                    <a:srgbClr val="25282A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Delegado</a:t>
              </a:r>
            </a:p>
            <a:p>
              <a:pPr algn="ctr" marL="0" indent="0" lvl="0">
                <a:lnSpc>
                  <a:spcPts val="3359"/>
                </a:lnSpc>
              </a:pPr>
              <a:r>
                <a:rPr lang="en-US" b="true" sz="2399">
                  <a:solidFill>
                    <a:srgbClr val="25282A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Persona autorizada para recibir o entregar al estudiante.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3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2865" y="3026932"/>
            <a:ext cx="2270877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1968" indent="-250984" lvl="1">
              <a:lnSpc>
                <a:spcPts val="3254"/>
              </a:lnSpc>
              <a:spcBef>
                <a:spcPct val="0"/>
              </a:spcBef>
              <a:buAutoNum type="arabicPeriod" startAt="1"/>
            </a:pPr>
            <a:r>
              <a:rPr lang="en-US" sz="2325" spc="-15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Configuración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82062" y="3026932"/>
            <a:ext cx="2270877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1968" indent="-250984" lvl="1">
              <a:lnSpc>
                <a:spcPts val="3254"/>
              </a:lnSpc>
              <a:spcBef>
                <a:spcPct val="0"/>
              </a:spcBef>
              <a:buAutoNum type="arabicPeriod" startAt="1"/>
            </a:pPr>
            <a:r>
              <a:rPr lang="en-US" sz="2325" spc="-15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Inicio de Ruta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2865" y="3853136"/>
            <a:ext cx="2798754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sz="210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</a:t>
            </a:r>
            <a:r>
              <a:rPr lang="en-US" b="true" sz="210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dministrador configura rutas y asignaciones.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82062" y="3818736"/>
            <a:ext cx="2798754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sz="210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Conductor inicia el recorrido.</a:t>
            </a:r>
          </a:p>
          <a:p>
            <a:pPr algn="ctr" marL="0" indent="0" lvl="0">
              <a:lnSpc>
                <a:spcPts val="2940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-155958" y="3675861"/>
            <a:ext cx="18824318" cy="0"/>
          </a:xfrm>
          <a:prstGeom prst="line">
            <a:avLst/>
          </a:prstGeom>
          <a:ln cap="flat" w="38100">
            <a:solidFill>
              <a:srgbClr val="E8DA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874880" y="3026932"/>
            <a:ext cx="2270877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1968" indent="-250984" lvl="1">
              <a:lnSpc>
                <a:spcPts val="3254"/>
              </a:lnSpc>
              <a:spcBef>
                <a:spcPct val="0"/>
              </a:spcBef>
              <a:buAutoNum type="arabicPeriod" startAt="1"/>
            </a:pPr>
            <a:r>
              <a:rPr lang="en-US" sz="2325" spc="-15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Abordaje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28466" y="3818736"/>
            <a:ext cx="2798754" cy="190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sz="210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estudiante se identifica mediante dato biométrico o QR como método de respaldo.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6807" y="3030066"/>
            <a:ext cx="2270877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1968" indent="-250984" lvl="1">
              <a:lnSpc>
                <a:spcPts val="3254"/>
              </a:lnSpc>
              <a:spcBef>
                <a:spcPct val="0"/>
              </a:spcBef>
              <a:buAutoNum type="arabicPeriod" startAt="1"/>
            </a:pPr>
            <a:r>
              <a:rPr lang="en-US" sz="2325" spc="-15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Seguimiento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81140" y="3030066"/>
            <a:ext cx="2270877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1968" indent="-250984" lvl="1">
              <a:lnSpc>
                <a:spcPts val="3254"/>
              </a:lnSpc>
              <a:spcBef>
                <a:spcPct val="0"/>
              </a:spcBef>
              <a:buAutoNum type="arabicPeriod" startAt="1"/>
            </a:pPr>
            <a:r>
              <a:rPr lang="en-US" sz="2325" spc="-15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Entrega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4803" y="3818736"/>
            <a:ext cx="2798754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sz="210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Apoderado consulta el estado del traslado.</a:t>
            </a:r>
          </a:p>
          <a:p>
            <a:pPr algn="ctr" marL="0" indent="0" lvl="0">
              <a:lnSpc>
                <a:spcPts val="294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154660" y="3792066"/>
            <a:ext cx="2270877" cy="228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sz="210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Estudiante es entregado al apoderado o delegado autorizado.</a:t>
            </a:r>
          </a:p>
          <a:p>
            <a:pPr algn="ctr" marL="0" indent="0" lvl="0">
              <a:lnSpc>
                <a:spcPts val="29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498430" y="776093"/>
            <a:ext cx="9291139" cy="67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61"/>
              </a:lnSpc>
              <a:spcBef>
                <a:spcPct val="0"/>
              </a:spcBef>
            </a:pPr>
            <a:r>
              <a:rPr lang="en-US" sz="5574" spc="-423" strike="noStrike" u="none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¿Cómo Funciona Rutas Seguras?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23862" y="3030066"/>
            <a:ext cx="2270877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1968" indent="-250984" lvl="1">
              <a:lnSpc>
                <a:spcPts val="3254"/>
              </a:lnSpc>
              <a:spcBef>
                <a:spcPct val="0"/>
              </a:spcBef>
              <a:buAutoNum type="arabicPeriod" startAt="1"/>
            </a:pPr>
            <a:r>
              <a:rPr lang="en-US" sz="2325" spc="-15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Final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73186" y="3818736"/>
            <a:ext cx="2347848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sz="210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Se registra el cierre de la ruta.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3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35393" y="2758482"/>
            <a:ext cx="4946253" cy="58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18"/>
              </a:lnSpc>
              <a:spcBef>
                <a:spcPct val="0"/>
              </a:spcBef>
            </a:pPr>
            <a:r>
              <a:rPr lang="en-US" sz="3370" spc="-219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Desde la aplicacion móvil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589163" y="3961213"/>
            <a:ext cx="11284819" cy="173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1.- Gestiona sus hijos → Consulta y administra la información de los estudiantes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2.- Autoriza un delegado → Registra el RUT de la persona autorizada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3.- Consulta la ruta → Puede revisar el estado del traslado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4.- Recibe notificaciones →  Recibe avisos sobre inicio, abordaje, incidentes y entrega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71687" y="1200150"/>
            <a:ext cx="9291139" cy="67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sz="5570" spc="-423" strike="noStrike" u="none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Flujo del Apoderado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42467" y="7162607"/>
            <a:ext cx="10373977" cy="901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Resultado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apoderado tiene mayor información y control sobre el traslado de su hijo.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162" y="1028700"/>
            <a:ext cx="4237519" cy="7792709"/>
            <a:chOff x="0" y="0"/>
            <a:chExt cx="5650025" cy="10390279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552" t="0" r="27352" b="0"/>
            <a:stretch>
              <a:fillRect/>
            </a:stretch>
          </p:blipFill>
          <p:spPr>
            <a:xfrm flipH="false" flipV="false">
              <a:off x="0" y="0"/>
              <a:ext cx="5650025" cy="10390279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2398006" y="1154968"/>
            <a:ext cx="4326127" cy="7792709"/>
            <a:chOff x="0" y="0"/>
            <a:chExt cx="5768170" cy="10390279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316" t="0" r="26374" b="0"/>
            <a:stretch>
              <a:fillRect/>
            </a:stretch>
          </p:blipFill>
          <p:spPr>
            <a:xfrm flipH="false" flipV="false">
              <a:off x="0" y="0"/>
              <a:ext cx="5768170" cy="10390279"/>
            </a:xfrm>
            <a:prstGeom prst="rect">
              <a:avLst/>
            </a:prstGeom>
          </p:spPr>
        </p:pic>
      </p:grpSp>
      <p:sp>
        <p:nvSpPr>
          <p:cNvPr name="Freeform 6" id="6"/>
          <p:cNvSpPr/>
          <p:nvPr/>
        </p:nvSpPr>
        <p:spPr>
          <a:xfrm flipH="false" flipV="false" rot="0">
            <a:off x="6745084" y="1154968"/>
            <a:ext cx="4726476" cy="6159548"/>
          </a:xfrm>
          <a:custGeom>
            <a:avLst/>
            <a:gdLst/>
            <a:ahLst/>
            <a:cxnLst/>
            <a:rect r="r" b="b" t="t" l="l"/>
            <a:pathLst>
              <a:path h="6159548" w="4726476">
                <a:moveTo>
                  <a:pt x="0" y="0"/>
                </a:moveTo>
                <a:lnTo>
                  <a:pt x="4726476" y="0"/>
                </a:lnTo>
                <a:lnTo>
                  <a:pt x="4726476" y="6159548"/>
                </a:lnTo>
                <a:lnTo>
                  <a:pt x="0" y="615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70" r="0" b="-135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3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9340" y="2713621"/>
            <a:ext cx="4946253" cy="54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38"/>
              </a:lnSpc>
              <a:spcBef>
                <a:spcPct val="0"/>
              </a:spcBef>
            </a:pPr>
            <a:r>
              <a:rPr lang="en-US" sz="3170" spc="-206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Una entrega más segura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30269" y="4041581"/>
            <a:ext cx="10373977" cy="215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4" indent="-259077" lvl="1">
              <a:lnSpc>
                <a:spcPts val="3359"/>
              </a:lnSpc>
              <a:buAutoNum type="arabicPeriod" startAt="1"/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Apoderado: Autoriza a una persona mediante su RUT.</a:t>
            </a:r>
          </a:p>
          <a:p>
            <a:pPr algn="l" marL="518154" indent="-259077" lvl="1">
              <a:lnSpc>
                <a:spcPts val="3359"/>
              </a:lnSpc>
              <a:buAutoNum type="arabicPeriod" startAt="1"/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Delegado: Crea su propia cuenta.</a:t>
            </a:r>
          </a:p>
          <a:p>
            <a:pPr algn="l" marL="518154" indent="-259077" lvl="1">
              <a:lnSpc>
                <a:spcPts val="3359"/>
              </a:lnSpc>
              <a:buAutoNum type="arabicPeriod" startAt="1"/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Validación: El sistema verifica que su RUT este autorizado.</a:t>
            </a:r>
          </a:p>
          <a:p>
            <a:pPr algn="l" marL="518154" indent="-259077" lvl="1">
              <a:lnSpc>
                <a:spcPts val="3359"/>
              </a:lnSpc>
              <a:buAutoNum type="arabicPeriod" startAt="1"/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Vinculación: Se asocia automáticamente con el estudiante autorizado.</a:t>
            </a:r>
          </a:p>
          <a:p>
            <a:pPr algn="l" marL="518154" indent="-259077" lvl="1">
              <a:lnSpc>
                <a:spcPts val="3359"/>
              </a:lnSpc>
              <a:buAutoNum type="arabicPeriod" startAt="1"/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Entrega: Puede recibir al estudiante y queda registro de la entrega.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71687" y="1200150"/>
            <a:ext cx="9291139" cy="67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sz="5570" spc="-423" strike="noStrike" u="none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Flujo del Delegado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42467" y="7162607"/>
            <a:ext cx="10373977" cy="901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Un dato importante de este rol: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apoderado autoriza, pero el delegado crea su propia cuenta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8605" y="1782671"/>
            <a:ext cx="4620637" cy="6148933"/>
          </a:xfrm>
          <a:custGeom>
            <a:avLst/>
            <a:gdLst/>
            <a:ahLst/>
            <a:cxnLst/>
            <a:rect r="r" b="b" t="t" l="l"/>
            <a:pathLst>
              <a:path h="6148933" w="4620637">
                <a:moveTo>
                  <a:pt x="0" y="0"/>
                </a:moveTo>
                <a:lnTo>
                  <a:pt x="4620637" y="0"/>
                </a:lnTo>
                <a:lnTo>
                  <a:pt x="4620637" y="6148933"/>
                </a:lnTo>
                <a:lnTo>
                  <a:pt x="0" y="614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31579" y="1782671"/>
            <a:ext cx="4472396" cy="6195226"/>
          </a:xfrm>
          <a:custGeom>
            <a:avLst/>
            <a:gdLst/>
            <a:ahLst/>
            <a:cxnLst/>
            <a:rect r="r" b="b" t="t" l="l"/>
            <a:pathLst>
              <a:path h="6195226" w="4472396">
                <a:moveTo>
                  <a:pt x="0" y="0"/>
                </a:moveTo>
                <a:lnTo>
                  <a:pt x="4472396" y="0"/>
                </a:lnTo>
                <a:lnTo>
                  <a:pt x="4472396" y="6195226"/>
                </a:lnTo>
                <a:lnTo>
                  <a:pt x="0" y="6195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38186" y="1782671"/>
            <a:ext cx="4317170" cy="6233073"/>
          </a:xfrm>
          <a:custGeom>
            <a:avLst/>
            <a:gdLst/>
            <a:ahLst/>
            <a:cxnLst/>
            <a:rect r="r" b="b" t="t" l="l"/>
            <a:pathLst>
              <a:path h="6233073" w="4317170">
                <a:moveTo>
                  <a:pt x="0" y="0"/>
                </a:moveTo>
                <a:lnTo>
                  <a:pt x="4317169" y="0"/>
                </a:lnTo>
                <a:lnTo>
                  <a:pt x="4317169" y="6233073"/>
                </a:lnTo>
                <a:lnTo>
                  <a:pt x="0" y="6233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3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8430" y="1052978"/>
            <a:ext cx="9291139" cy="88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3"/>
              </a:lnSpc>
              <a:spcBef>
                <a:spcPct val="0"/>
              </a:spcBef>
            </a:pPr>
            <a:r>
              <a:rPr lang="en-US" sz="7194" spc="-546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Seguridad y Trazabilidad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01094" y="2393517"/>
            <a:ext cx="6227782" cy="4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3"/>
              </a:lnSpc>
            </a:pPr>
            <a:r>
              <a:rPr lang="en-US" sz="3678" spc="-242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Cada</a:t>
            </a:r>
            <a:r>
              <a:rPr lang="en-US" sz="3678" spc="-242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 estapa queda registrada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39752" y="3090772"/>
            <a:ext cx="10096899" cy="592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2398" b="true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Autenticación y roles </a:t>
            </a:r>
          </a:p>
          <a:p>
            <a:pPr algn="l">
              <a:lnSpc>
                <a:spcPts val="3142"/>
              </a:lnSpc>
            </a:pPr>
            <a:r>
              <a:rPr lang="en-US" sz="23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Cada usuario accede según sus permisos.</a:t>
            </a:r>
          </a:p>
          <a:p>
            <a:pPr algn="l">
              <a:lnSpc>
                <a:spcPts val="3142"/>
              </a:lnSpc>
            </a:pPr>
          </a:p>
          <a:p>
            <a:pPr algn="l">
              <a:lnSpc>
                <a:spcPts val="3142"/>
              </a:lnSpc>
            </a:pPr>
            <a:r>
              <a:rPr lang="en-US" sz="2398" b="true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Identificación QR</a:t>
            </a:r>
          </a:p>
          <a:p>
            <a:pPr algn="l">
              <a:lnSpc>
                <a:spcPts val="3142"/>
              </a:lnSpc>
            </a:pPr>
            <a:r>
              <a:rPr lang="en-US" sz="23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Permite registrar el abordaje  del estudiante.</a:t>
            </a:r>
          </a:p>
          <a:p>
            <a:pPr algn="l">
              <a:lnSpc>
                <a:spcPts val="3142"/>
              </a:lnSpc>
            </a:pPr>
          </a:p>
          <a:p>
            <a:pPr algn="l">
              <a:lnSpc>
                <a:spcPts val="3142"/>
              </a:lnSpc>
            </a:pPr>
            <a:r>
              <a:rPr lang="en-US" sz="2398" b="true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Notificaciones</a:t>
            </a:r>
          </a:p>
          <a:p>
            <a:pPr algn="l">
              <a:lnSpc>
                <a:spcPts val="3142"/>
              </a:lnSpc>
            </a:pPr>
            <a:r>
              <a:rPr lang="en-US" sz="23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Informan sobre eventos importantes durante el recorrido.</a:t>
            </a:r>
          </a:p>
          <a:p>
            <a:pPr algn="l">
              <a:lnSpc>
                <a:spcPts val="3142"/>
              </a:lnSpc>
            </a:pPr>
          </a:p>
          <a:p>
            <a:pPr algn="l">
              <a:lnSpc>
                <a:spcPts val="3142"/>
              </a:lnSpc>
            </a:pPr>
            <a:r>
              <a:rPr lang="en-US" sz="2398" b="true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Delegados autorizados</a:t>
            </a:r>
          </a:p>
          <a:p>
            <a:pPr algn="l">
              <a:lnSpc>
                <a:spcPts val="3142"/>
              </a:lnSpc>
            </a:pPr>
            <a:r>
              <a:rPr lang="en-US" sz="23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La entrega se realiza únicamente a personas previamente autorizadas.</a:t>
            </a:r>
          </a:p>
          <a:p>
            <a:pPr algn="l">
              <a:lnSpc>
                <a:spcPts val="3142"/>
              </a:lnSpc>
            </a:pPr>
          </a:p>
          <a:p>
            <a:pPr algn="l">
              <a:lnSpc>
                <a:spcPts val="3142"/>
              </a:lnSpc>
            </a:pPr>
            <a:r>
              <a:rPr lang="en-US" sz="2398" b="true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Trazabilidad</a:t>
            </a:r>
          </a:p>
          <a:p>
            <a:pPr algn="l">
              <a:lnSpc>
                <a:spcPts val="3142"/>
              </a:lnSpc>
            </a:pPr>
            <a:r>
              <a:rPr lang="en-US" sz="23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Los eventos del recorrido quedan registrados en el sistema.</a:t>
            </a:r>
          </a:p>
          <a:p>
            <a:pPr algn="l" marL="0" indent="0" lvl="0">
              <a:lnSpc>
                <a:spcPts val="3142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4739" y="3074339"/>
            <a:ext cx="7525159" cy="5650890"/>
            <a:chOff x="0" y="0"/>
            <a:chExt cx="1981935" cy="1488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1935" cy="1488300"/>
            </a:xfrm>
            <a:custGeom>
              <a:avLst/>
              <a:gdLst/>
              <a:ahLst/>
              <a:cxnLst/>
              <a:rect r="r" b="b" t="t" l="l"/>
              <a:pathLst>
                <a:path h="1488300" w="1981935">
                  <a:moveTo>
                    <a:pt x="21605" y="0"/>
                  </a:moveTo>
                  <a:lnTo>
                    <a:pt x="1960330" y="0"/>
                  </a:lnTo>
                  <a:cubicBezTo>
                    <a:pt x="1966060" y="0"/>
                    <a:pt x="1971555" y="2276"/>
                    <a:pt x="1975607" y="6328"/>
                  </a:cubicBezTo>
                  <a:cubicBezTo>
                    <a:pt x="1979659" y="10380"/>
                    <a:pt x="1981935" y="15875"/>
                    <a:pt x="1981935" y="21605"/>
                  </a:cubicBezTo>
                  <a:lnTo>
                    <a:pt x="1981935" y="1466695"/>
                  </a:lnTo>
                  <a:cubicBezTo>
                    <a:pt x="1981935" y="1472425"/>
                    <a:pt x="1979659" y="1477921"/>
                    <a:pt x="1975607" y="1481972"/>
                  </a:cubicBezTo>
                  <a:cubicBezTo>
                    <a:pt x="1971555" y="1486024"/>
                    <a:pt x="1966060" y="1488300"/>
                    <a:pt x="1960330" y="1488300"/>
                  </a:cubicBezTo>
                  <a:lnTo>
                    <a:pt x="21605" y="1488300"/>
                  </a:lnTo>
                  <a:cubicBezTo>
                    <a:pt x="15875" y="1488300"/>
                    <a:pt x="10380" y="1486024"/>
                    <a:pt x="6328" y="1481972"/>
                  </a:cubicBezTo>
                  <a:cubicBezTo>
                    <a:pt x="2276" y="1477921"/>
                    <a:pt x="0" y="1472425"/>
                    <a:pt x="0" y="1466695"/>
                  </a:cubicBezTo>
                  <a:lnTo>
                    <a:pt x="0" y="21605"/>
                  </a:lnTo>
                  <a:cubicBezTo>
                    <a:pt x="0" y="15875"/>
                    <a:pt x="2276" y="10380"/>
                    <a:pt x="6328" y="6328"/>
                  </a:cubicBezTo>
                  <a:cubicBezTo>
                    <a:pt x="10380" y="2276"/>
                    <a:pt x="15875" y="0"/>
                    <a:pt x="216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981935" cy="157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35091" y="3074339"/>
            <a:ext cx="7525159" cy="5650890"/>
            <a:chOff x="0" y="0"/>
            <a:chExt cx="1981935" cy="1488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935" cy="1488300"/>
            </a:xfrm>
            <a:custGeom>
              <a:avLst/>
              <a:gdLst/>
              <a:ahLst/>
              <a:cxnLst/>
              <a:rect r="r" b="b" t="t" l="l"/>
              <a:pathLst>
                <a:path h="1488300" w="1981935">
                  <a:moveTo>
                    <a:pt x="21605" y="0"/>
                  </a:moveTo>
                  <a:lnTo>
                    <a:pt x="1960330" y="0"/>
                  </a:lnTo>
                  <a:cubicBezTo>
                    <a:pt x="1966060" y="0"/>
                    <a:pt x="1971555" y="2276"/>
                    <a:pt x="1975607" y="6328"/>
                  </a:cubicBezTo>
                  <a:cubicBezTo>
                    <a:pt x="1979659" y="10380"/>
                    <a:pt x="1981935" y="15875"/>
                    <a:pt x="1981935" y="21605"/>
                  </a:cubicBezTo>
                  <a:lnTo>
                    <a:pt x="1981935" y="1466695"/>
                  </a:lnTo>
                  <a:cubicBezTo>
                    <a:pt x="1981935" y="1472425"/>
                    <a:pt x="1979659" y="1477921"/>
                    <a:pt x="1975607" y="1481972"/>
                  </a:cubicBezTo>
                  <a:cubicBezTo>
                    <a:pt x="1971555" y="1486024"/>
                    <a:pt x="1966060" y="1488300"/>
                    <a:pt x="1960330" y="1488300"/>
                  </a:cubicBezTo>
                  <a:lnTo>
                    <a:pt x="21605" y="1488300"/>
                  </a:lnTo>
                  <a:cubicBezTo>
                    <a:pt x="15875" y="1488300"/>
                    <a:pt x="10380" y="1486024"/>
                    <a:pt x="6328" y="1481972"/>
                  </a:cubicBezTo>
                  <a:cubicBezTo>
                    <a:pt x="2276" y="1477921"/>
                    <a:pt x="0" y="1472425"/>
                    <a:pt x="0" y="1466695"/>
                  </a:cubicBezTo>
                  <a:lnTo>
                    <a:pt x="0" y="21605"/>
                  </a:lnTo>
                  <a:cubicBezTo>
                    <a:pt x="0" y="15875"/>
                    <a:pt x="2276" y="10380"/>
                    <a:pt x="6328" y="6328"/>
                  </a:cubicBezTo>
                  <a:cubicBezTo>
                    <a:pt x="10380" y="2276"/>
                    <a:pt x="15875" y="0"/>
                    <a:pt x="216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981935" cy="157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40330" y="3672753"/>
            <a:ext cx="7639569" cy="4313907"/>
          </a:xfrm>
          <a:custGeom>
            <a:avLst/>
            <a:gdLst/>
            <a:ahLst/>
            <a:cxnLst/>
            <a:rect r="r" b="b" t="t" l="l"/>
            <a:pathLst>
              <a:path h="4313907" w="7639569">
                <a:moveTo>
                  <a:pt x="0" y="0"/>
                </a:moveTo>
                <a:lnTo>
                  <a:pt x="7639569" y="0"/>
                </a:lnTo>
                <a:lnTo>
                  <a:pt x="7639569" y="4313908"/>
                </a:lnTo>
                <a:lnTo>
                  <a:pt x="0" y="4313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72711" y="1050724"/>
            <a:ext cx="10510854" cy="88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3"/>
              </a:lnSpc>
              <a:spcBef>
                <a:spcPct val="0"/>
              </a:spcBef>
            </a:pPr>
            <a:r>
              <a:rPr lang="en-US" sz="7194" spc="-417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Arquitectura y Tecnologías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50281" y="3387123"/>
            <a:ext cx="3014932" cy="28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0"/>
              </a:lnSpc>
              <a:spcBef>
                <a:spcPct val="0"/>
              </a:spcBef>
            </a:pPr>
            <a:r>
              <a:rPr lang="en-US" sz="2416" spc="-103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Arquitectura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09087" y="3387123"/>
            <a:ext cx="3014932" cy="28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0"/>
              </a:lnSpc>
              <a:spcBef>
                <a:spcPct val="0"/>
              </a:spcBef>
            </a:pPr>
            <a:r>
              <a:rPr lang="en-US" sz="2416" spc="-103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Teconologías usadas: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8138" y="4059043"/>
            <a:ext cx="6810246" cy="237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2"/>
              </a:lnSpc>
            </a:pPr>
            <a:r>
              <a:rPr lang="en-US" b="true" sz="2187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Mobile</a:t>
            </a:r>
            <a:r>
              <a:rPr lang="en-US" b="true" sz="2187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: Ionic · Angular · TypeScript · Capacitor</a:t>
            </a:r>
          </a:p>
          <a:p>
            <a:pPr algn="l" marL="0" indent="0" lvl="0">
              <a:lnSpc>
                <a:spcPts val="3062"/>
              </a:lnSpc>
            </a:pPr>
            <a:r>
              <a:rPr lang="en-US" b="true" sz="2187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Web</a:t>
            </a:r>
            <a:r>
              <a:rPr lang="en-US" b="true" sz="2187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: Angular · TypeScript</a:t>
            </a:r>
          </a:p>
          <a:p>
            <a:pPr algn="l" marL="0" indent="0" lvl="0">
              <a:lnSpc>
                <a:spcPts val="3062"/>
              </a:lnSpc>
            </a:pPr>
            <a:r>
              <a:rPr lang="en-US" b="true" sz="2187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Backend:</a:t>
            </a:r>
            <a:r>
              <a:rPr lang="en-US" b="true" sz="2187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Python · Django · Django REST Framework</a:t>
            </a:r>
          </a:p>
          <a:p>
            <a:pPr algn="l" marL="0" indent="0" lvl="0">
              <a:lnSpc>
                <a:spcPts val="3062"/>
              </a:lnSpc>
            </a:pPr>
            <a:r>
              <a:rPr lang="en-US" b="true" sz="2187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BD: </a:t>
            </a:r>
            <a:r>
              <a:rPr lang="en-US" b="true" sz="2187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SQLite</a:t>
            </a:r>
          </a:p>
          <a:p>
            <a:pPr algn="l" marL="0" indent="0" lvl="0">
              <a:lnSpc>
                <a:spcPts val="3062"/>
              </a:lnSpc>
            </a:pPr>
            <a:r>
              <a:rPr lang="en-US" b="true" sz="2187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Control de versiones:</a:t>
            </a:r>
            <a:r>
              <a:rPr lang="en-US" b="true" sz="2187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Git · GitHub</a:t>
            </a:r>
          </a:p>
          <a:p>
            <a:pPr algn="l" marL="0" indent="0" lvl="0">
              <a:lnSpc>
                <a:spcPts val="3342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3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8010" y="3074339"/>
            <a:ext cx="15422241" cy="5650890"/>
            <a:chOff x="0" y="0"/>
            <a:chExt cx="4061825" cy="1488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1825" cy="1488300"/>
            </a:xfrm>
            <a:custGeom>
              <a:avLst/>
              <a:gdLst/>
              <a:ahLst/>
              <a:cxnLst/>
              <a:rect r="r" b="b" t="t" l="l"/>
              <a:pathLst>
                <a:path h="1488300" w="4061825">
                  <a:moveTo>
                    <a:pt x="10542" y="0"/>
                  </a:moveTo>
                  <a:lnTo>
                    <a:pt x="4051283" y="0"/>
                  </a:lnTo>
                  <a:cubicBezTo>
                    <a:pt x="4057105" y="0"/>
                    <a:pt x="4061825" y="4720"/>
                    <a:pt x="4061825" y="10542"/>
                  </a:cubicBezTo>
                  <a:lnTo>
                    <a:pt x="4061825" y="1477758"/>
                  </a:lnTo>
                  <a:cubicBezTo>
                    <a:pt x="4061825" y="1483580"/>
                    <a:pt x="4057105" y="1488300"/>
                    <a:pt x="4051283" y="1488300"/>
                  </a:cubicBezTo>
                  <a:lnTo>
                    <a:pt x="10542" y="1488300"/>
                  </a:lnTo>
                  <a:cubicBezTo>
                    <a:pt x="4720" y="1488300"/>
                    <a:pt x="0" y="1483580"/>
                    <a:pt x="0" y="1477758"/>
                  </a:cubicBezTo>
                  <a:lnTo>
                    <a:pt x="0" y="10542"/>
                  </a:lnTo>
                  <a:cubicBezTo>
                    <a:pt x="0" y="4720"/>
                    <a:pt x="4720" y="0"/>
                    <a:pt x="105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061825" cy="157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52560" y="698793"/>
            <a:ext cx="9786439" cy="86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02"/>
              </a:lnSpc>
              <a:spcBef>
                <a:spcPct val="0"/>
              </a:spcBef>
            </a:pPr>
            <a:r>
              <a:rPr lang="en-US" sz="7081" spc="-410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Metodología y Desarrollo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38010" y="2175282"/>
            <a:ext cx="4310332" cy="37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3"/>
              </a:lnSpc>
              <a:spcBef>
                <a:spcPct val="0"/>
              </a:spcBef>
            </a:pPr>
            <a:r>
              <a:rPr lang="en-US" sz="3060" spc="-13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Trabajamos con Scrum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55941" y="3145670"/>
            <a:ext cx="11579677" cy="539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0"/>
              </a:lnSpc>
            </a:pPr>
            <a:r>
              <a:rPr lang="en-US" b="true" sz="2335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Product Backlog</a:t>
            </a:r>
          </a:p>
          <a:p>
            <a:pPr algn="l" marL="0" indent="0" lvl="0">
              <a:lnSpc>
                <a:spcPts val="3270"/>
              </a:lnSpc>
            </a:pPr>
            <a:r>
              <a:rPr lang="en-US" b="true" sz="2335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Definición y priorización de funcionalidades.</a:t>
            </a:r>
          </a:p>
          <a:p>
            <a:pPr algn="l" marL="0" indent="0" lvl="0">
              <a:lnSpc>
                <a:spcPts val="3270"/>
              </a:lnSpc>
            </a:pPr>
            <a:r>
              <a:rPr lang="en-US" b="true" sz="2335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Sprints</a:t>
            </a:r>
          </a:p>
          <a:p>
            <a:pPr algn="l" marL="0" indent="0" lvl="0">
              <a:lnSpc>
                <a:spcPts val="3270"/>
              </a:lnSpc>
            </a:pPr>
            <a:r>
              <a:rPr lang="en-US" sz="2335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Desarrollo dividido en ciclos de trabajo.</a:t>
            </a:r>
          </a:p>
          <a:p>
            <a:pPr algn="l" marL="0" indent="0" lvl="0">
              <a:lnSpc>
                <a:spcPts val="3270"/>
              </a:lnSpc>
            </a:pPr>
            <a:r>
              <a:rPr lang="en-US" b="true" sz="2335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Sprint Backlog</a:t>
            </a:r>
          </a:p>
          <a:p>
            <a:pPr algn="l" marL="0" indent="0" lvl="0">
              <a:lnSpc>
                <a:spcPts val="3270"/>
              </a:lnSpc>
            </a:pPr>
            <a:r>
              <a:rPr lang="en-US" b="true" sz="2335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Tareas seleccionadas para cada Sprint.</a:t>
            </a:r>
          </a:p>
          <a:p>
            <a:pPr algn="l" marL="0" indent="0" lvl="0">
              <a:lnSpc>
                <a:spcPts val="3496"/>
              </a:lnSpc>
            </a:pPr>
            <a:r>
              <a:rPr lang="en-US" b="true" sz="2497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Weekly Meeting</a:t>
            </a:r>
          </a:p>
          <a:p>
            <a:pPr algn="l" marL="0" indent="0" lvl="0">
              <a:lnSpc>
                <a:spcPts val="3270"/>
              </a:lnSpc>
            </a:pPr>
            <a:r>
              <a:rPr lang="en-US" b="true" sz="2335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Seguimiento del avance e impedimentos.</a:t>
            </a:r>
          </a:p>
          <a:p>
            <a:pPr algn="l" marL="0" indent="0" lvl="0">
              <a:lnSpc>
                <a:spcPts val="3270"/>
              </a:lnSpc>
            </a:pPr>
            <a:r>
              <a:rPr lang="en-US" b="true" sz="2335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Sprint Review</a:t>
            </a:r>
          </a:p>
          <a:p>
            <a:pPr algn="l" marL="0" indent="0" lvl="0">
              <a:lnSpc>
                <a:spcPts val="3270"/>
              </a:lnSpc>
            </a:pPr>
            <a:r>
              <a:rPr lang="en-US" b="true" sz="2335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Revisión de funcionalidades desarrolladas.</a:t>
            </a:r>
          </a:p>
          <a:p>
            <a:pPr algn="l" marL="0" indent="0" lvl="0">
              <a:lnSpc>
                <a:spcPts val="3270"/>
              </a:lnSpc>
            </a:pPr>
            <a:r>
              <a:rPr lang="en-US" b="true" sz="2335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Retrospective</a:t>
            </a:r>
          </a:p>
          <a:p>
            <a:pPr algn="l" marL="0" indent="0" lvl="0">
              <a:lnSpc>
                <a:spcPts val="3270"/>
              </a:lnSpc>
            </a:pPr>
            <a:r>
              <a:rPr lang="en-US" b="true" sz="2335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Evaluación y mejora del proceso.</a:t>
            </a:r>
          </a:p>
          <a:p>
            <a:pPr algn="l" marL="0" indent="0" lvl="0">
              <a:lnSpc>
                <a:spcPts val="327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3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62687" y="1682272"/>
            <a:ext cx="7631180" cy="715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2319" indent="-381159" lvl="1">
              <a:lnSpc>
                <a:spcPts val="6249"/>
              </a:lnSpc>
              <a:buAutoNum type="arabicPeriod" startAt="1"/>
            </a:pPr>
            <a:r>
              <a:rPr lang="en-US" sz="353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</a:t>
            </a:r>
            <a:r>
              <a:rPr lang="en-US" b="true" sz="353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Registro e inicio de sesión</a:t>
            </a:r>
          </a:p>
          <a:p>
            <a:pPr algn="l" marL="762319" indent="-381159" lvl="1">
              <a:lnSpc>
                <a:spcPts val="6249"/>
              </a:lnSpc>
              <a:buAutoNum type="arabicPeriod" startAt="1"/>
            </a:pPr>
            <a:r>
              <a:rPr lang="en-US" b="true" sz="353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Gestión de roles y permisos</a:t>
            </a:r>
          </a:p>
          <a:p>
            <a:pPr algn="l" marL="762319" indent="-381159" lvl="1">
              <a:lnSpc>
                <a:spcPts val="6249"/>
              </a:lnSpc>
              <a:buAutoNum type="arabicPeriod" startAt="1"/>
            </a:pPr>
            <a:r>
              <a:rPr lang="en-US" b="true" sz="353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Registro de estudiantes</a:t>
            </a:r>
          </a:p>
          <a:p>
            <a:pPr algn="l" marL="762319" indent="-381159" lvl="1">
              <a:lnSpc>
                <a:spcPts val="6249"/>
              </a:lnSpc>
              <a:buAutoNum type="arabicPeriod" startAt="1"/>
            </a:pPr>
            <a:r>
              <a:rPr lang="en-US" b="true" sz="353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Administración de conductores</a:t>
            </a:r>
          </a:p>
          <a:p>
            <a:pPr algn="l" marL="762319" indent="-381159" lvl="1">
              <a:lnSpc>
                <a:spcPts val="6249"/>
              </a:lnSpc>
              <a:buAutoNum type="arabicPeriod" startAt="1"/>
            </a:pPr>
            <a:r>
              <a:rPr lang="en-US" b="true" sz="353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Gestión de rutas</a:t>
            </a:r>
          </a:p>
          <a:p>
            <a:pPr algn="l" marL="762319" indent="-381159" lvl="1">
              <a:lnSpc>
                <a:spcPts val="6249"/>
              </a:lnSpc>
              <a:buAutoNum type="arabicPeriod" startAt="1"/>
            </a:pPr>
            <a:r>
              <a:rPr lang="en-US" b="true" sz="353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Seguimiento básico</a:t>
            </a:r>
          </a:p>
          <a:p>
            <a:pPr algn="l" marL="762319" indent="-381159" lvl="1">
              <a:lnSpc>
                <a:spcPts val="6249"/>
              </a:lnSpc>
              <a:buAutoNum type="arabicPeriod" startAt="1"/>
            </a:pPr>
            <a:r>
              <a:rPr lang="en-US" b="true" sz="353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Notificaciones básicas</a:t>
            </a:r>
          </a:p>
          <a:p>
            <a:pPr algn="l" marL="762319" indent="-381159" lvl="1">
              <a:lnSpc>
                <a:spcPts val="6249"/>
              </a:lnSpc>
              <a:buAutoNum type="arabicPeriod" startAt="1"/>
            </a:pPr>
            <a:r>
              <a:rPr lang="en-US" b="true" sz="353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Identificación por código QR</a:t>
            </a:r>
          </a:p>
          <a:p>
            <a:pPr algn="l" marL="762319" indent="-381159" lvl="1">
              <a:lnSpc>
                <a:spcPts val="6249"/>
              </a:lnSpc>
              <a:buAutoNum type="arabicPeriod" startAt="1"/>
            </a:pPr>
            <a:r>
              <a:rPr lang="en-US" b="true" sz="353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Geolocalización en tiempo real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65173" y="3879367"/>
            <a:ext cx="4440427" cy="2589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10"/>
              </a:lnSpc>
              <a:spcBef>
                <a:spcPct val="0"/>
              </a:spcBef>
            </a:pPr>
            <a:r>
              <a:rPr lang="en-US" sz="11023" spc="-870" strike="noStrike" u="none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Estado Actual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DAHU0GabhIE</dc:identifier>
  <dcterms:modified xsi:type="dcterms:W3CDTF">2011-08-01T06:04:30Z</dcterms:modified>
  <cp:revision>1</cp:revision>
  <dc:title>PPTRutasSeguras</dc:title>
</cp:coreProperties>
</file>